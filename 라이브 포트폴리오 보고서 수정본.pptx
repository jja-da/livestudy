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308" r:id="rId4"/>
    <p:sldId id="309" r:id="rId5"/>
    <p:sldId id="281" r:id="rId6"/>
    <p:sldId id="282" r:id="rId7"/>
    <p:sldId id="283" r:id="rId8"/>
    <p:sldId id="285" r:id="rId9"/>
    <p:sldId id="290" r:id="rId10"/>
    <p:sldId id="291" r:id="rId11"/>
    <p:sldId id="292" r:id="rId12"/>
    <p:sldId id="294" r:id="rId13"/>
    <p:sldId id="295" r:id="rId14"/>
    <p:sldId id="264" r:id="rId15"/>
    <p:sldId id="265" r:id="rId16"/>
    <p:sldId id="266" r:id="rId17"/>
    <p:sldId id="267" r:id="rId18"/>
    <p:sldId id="268" r:id="rId19"/>
    <p:sldId id="269" r:id="rId20"/>
    <p:sldId id="296" r:id="rId21"/>
    <p:sldId id="297" r:id="rId22"/>
    <p:sldId id="298" r:id="rId23"/>
    <p:sldId id="299" r:id="rId24"/>
    <p:sldId id="300" r:id="rId25"/>
    <p:sldId id="303" r:id="rId26"/>
    <p:sldId id="301" r:id="rId27"/>
    <p:sldId id="304" r:id="rId28"/>
    <p:sldId id="305" r:id="rId29"/>
    <p:sldId id="306" r:id="rId30"/>
    <p:sldId id="310" r:id="rId31"/>
  </p:sldIdLst>
  <p:sldSz cx="18288000" cy="10287000"/>
  <p:notesSz cx="6858000" cy="9144000"/>
  <p:embeddedFontLst>
    <p:embeddedFont>
      <p:font typeface="NanumBarunGothic" panose="020B0600000101010101" charset="-127"/>
      <p:regular r:id="rId33"/>
    </p:embeddedFont>
    <p:embeddedFont>
      <p:font typeface="NanumBarunGothic Bold" panose="020B0600000101010101" charset="-127"/>
      <p:bold r:id="rId34"/>
    </p:embeddedFont>
    <p:embeddedFont>
      <p:font typeface="Cambria Math" panose="02040503050406030204" pitchFamily="18" charset="0"/>
      <p:regular r:id="rId35"/>
    </p:embeddedFont>
    <p:embeddedFont>
      <p:font typeface="맑은 고딕" panose="020B0503020000020004" pitchFamily="50" charset="-127"/>
      <p:regular r:id="rId36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1" d="100"/>
          <a:sy n="101" d="100"/>
        </p:scale>
        <p:origin x="65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31T12:29:18.763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0,'433'0,"-429"0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31T12:29:38.222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1,'439'0,"-434"0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31T12:31:34.959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1,'0'635,"0"-629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31T12:31:50.410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31T12:32:11.860"/>
    </inkml:context>
    <inkml:brush xml:id="br0">
      <inkml:brushProperty name="width" value="0.2" units="cm"/>
      <inkml:brushProperty name="height" value="0.4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0,'0'1025,"0"-2011,0 1999,0-1004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31T12:29:47.181"/>
    </inkml:context>
    <inkml:brush xml:id="br0">
      <inkml:brushProperty name="width" value="0.2" units="cm"/>
      <inkml:brushProperty name="height" value="0.4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1,'623'0,"-618"0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7T09:29:19.464"/>
    </inkml:context>
    <inkml:brush xml:id="br0">
      <inkml:brushProperty name="width" value="0.2" units="cm"/>
      <inkml:brushProperty name="height" value="0.4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0,'14827'0,"-14809"0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7T09:29:27.008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7T09:29:30.129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0,'9012'0,"-8996"0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2A2273-25EC-4F17-B072-6A5DAD8E3660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33664-99A4-428B-A704-3CC5FD75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02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33664-99A4-428B-A704-3CC5FD75EC8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34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ihub.or.kr/aihubdata/data/view.do?srchOptnCnd=OPTNCND001&amp;currMenu=115&amp;topMenu=100&amp;searchKeyword=&#44552;&#50997;&amp;aihubDataSe=data&amp;dataSetSn=7179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customXml" Target="../ink/ink2.xml"/><Relationship Id="rId12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customXml" Target="../ink/ink1.xml"/><Relationship Id="rId15" Type="http://schemas.openxmlformats.org/officeDocument/2006/relationships/image" Target="../media/image12.png"/><Relationship Id="rId10" Type="http://schemas.openxmlformats.org/officeDocument/2006/relationships/customXml" Target="../ink/ink4.xml"/><Relationship Id="rId4" Type="http://schemas.openxmlformats.org/officeDocument/2006/relationships/image" Target="../media/image7.png"/><Relationship Id="rId9" Type="http://schemas.openxmlformats.org/officeDocument/2006/relationships/image" Target="../media/image9.png"/><Relationship Id="rId14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.xml"/><Relationship Id="rId5" Type="http://schemas.openxmlformats.org/officeDocument/2006/relationships/image" Target="../media/image25.png"/><Relationship Id="rId4" Type="http://schemas.openxmlformats.org/officeDocument/2006/relationships/customXml" Target="../ink/ink7.xml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863850" y="3314700"/>
            <a:ext cx="11226800" cy="439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02089"/>
              </a:lnSpc>
            </a:pPr>
            <a:r>
              <a:rPr lang="en-US" altLang="ko-KR" sz="6000" spc="100" dirty="0">
                <a:solidFill>
                  <a:srgbClr val="000000"/>
                </a:solidFill>
                <a:ea typeface="NanumBarunGothic Bold"/>
              </a:rPr>
              <a:t>[</a:t>
            </a:r>
            <a:r>
              <a:rPr lang="ko-KR" altLang="en-US" sz="6000" spc="100" dirty="0">
                <a:solidFill>
                  <a:srgbClr val="000000"/>
                </a:solidFill>
                <a:ea typeface="NanumBarunGothic Bold"/>
              </a:rPr>
              <a:t>금융데이터</a:t>
            </a:r>
            <a:r>
              <a:rPr lang="en-US" altLang="ko-KR" sz="6000" spc="100" dirty="0">
                <a:solidFill>
                  <a:srgbClr val="000000"/>
                </a:solidFill>
                <a:ea typeface="NanumBarunGothic Bold"/>
              </a:rPr>
              <a:t>]</a:t>
            </a:r>
            <a:endParaRPr lang="ko-KR" altLang="ko-KR" sz="6000" spc="100" dirty="0">
              <a:solidFill>
                <a:srgbClr val="000000"/>
              </a:solidFill>
              <a:ea typeface="NanumBarunGothic Bold"/>
            </a:endParaRPr>
          </a:p>
          <a:p>
            <a:pPr lvl="0" algn="ctr">
              <a:lnSpc>
                <a:spcPct val="102089"/>
              </a:lnSpc>
            </a:pPr>
            <a:endParaRPr lang="en-US" altLang="ko-KR" sz="3000" spc="100" dirty="0">
              <a:solidFill>
                <a:srgbClr val="000000"/>
              </a:solidFill>
              <a:ea typeface="NanumBarunGothic Bold"/>
            </a:endParaRPr>
          </a:p>
          <a:p>
            <a:pPr lvl="0" algn="ctr">
              <a:lnSpc>
                <a:spcPct val="102089"/>
              </a:lnSpc>
            </a:pPr>
            <a:endParaRPr lang="en-US" altLang="ko-KR" sz="3000" spc="100" dirty="0">
              <a:solidFill>
                <a:srgbClr val="000000"/>
              </a:solidFill>
              <a:ea typeface="NanumBarunGothic Bold"/>
            </a:endParaRPr>
          </a:p>
          <a:p>
            <a:pPr lvl="0" algn="ctr">
              <a:lnSpc>
                <a:spcPct val="102089"/>
              </a:lnSpc>
            </a:pPr>
            <a:r>
              <a:rPr lang="ko-KR" altLang="en-US" sz="6000" spc="100" dirty="0">
                <a:solidFill>
                  <a:srgbClr val="000000"/>
                </a:solidFill>
                <a:ea typeface="NanumBarunGothic Bold"/>
              </a:rPr>
              <a:t>라이브 포트폴리오 보고서</a:t>
            </a:r>
            <a:endParaRPr lang="en-US" altLang="ko-KR" sz="6000" spc="100" dirty="0">
              <a:solidFill>
                <a:srgbClr val="000000"/>
              </a:solidFill>
              <a:ea typeface="NanumBarunGothic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909800" y="8724900"/>
            <a:ext cx="22098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just">
              <a:lnSpc>
                <a:spcPct val="116199"/>
              </a:lnSpc>
            </a:pPr>
            <a:r>
              <a:rPr lang="ko-KR" altLang="en-US" sz="3500" i="0" u="none" strike="noStrike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김종윤</a:t>
            </a:r>
            <a:endParaRPr lang="en-US" sz="3500" i="0" u="none" strike="noStrike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20725" y="498475"/>
            <a:ext cx="7756525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3000" b="1" dirty="0">
                <a:solidFill>
                  <a:srgbClr val="000000"/>
                </a:solidFill>
                <a:latin typeface="NanumBarunGothic"/>
              </a:rPr>
              <a:t>메타코드</a:t>
            </a:r>
            <a:r>
              <a:rPr lang="en-US" altLang="ko-KR" sz="3000" b="1" dirty="0">
                <a:solidFill>
                  <a:srgbClr val="000000"/>
                </a:solidFill>
                <a:latin typeface="NanumBarunGothic"/>
              </a:rPr>
              <a:t>M</a:t>
            </a:r>
          </a:p>
          <a:p>
            <a:pPr lvl="0">
              <a:lnSpc>
                <a:spcPct val="116199"/>
              </a:lnSpc>
            </a:pPr>
            <a:r>
              <a:rPr lang="ko-KR" altLang="en-US" sz="3000" b="1" dirty="0">
                <a:solidFill>
                  <a:srgbClr val="000000"/>
                </a:solidFill>
                <a:latin typeface="NanumBarunGothic"/>
              </a:rPr>
              <a:t>라이브 스터디</a:t>
            </a:r>
            <a:endParaRPr lang="en-US" sz="3000" b="1" i="0" u="none" strike="noStrike" dirty="0">
              <a:solidFill>
                <a:srgbClr val="000000"/>
              </a:solidFill>
              <a:latin typeface="NanumBarunGothic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4E31BE3-3D8E-8984-7531-BEA675BDB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43114A-31F4-FF11-41DD-CD760AEE8491}"/>
              </a:ext>
            </a:extLst>
          </p:cNvPr>
          <p:cNvSpPr txBox="1"/>
          <p:nvPr/>
        </p:nvSpPr>
        <p:spPr>
          <a:xfrm>
            <a:off x="15928538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3835400"/>
            <a:ext cx="7493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5410200"/>
            <a:ext cx="7493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6997700"/>
            <a:ext cx="7493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8585200"/>
            <a:ext cx="7493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600" y="3797300"/>
            <a:ext cx="7493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600" y="5372100"/>
            <a:ext cx="749300" cy="38100"/>
          </a:xfrm>
          <a:prstGeom prst="rect">
            <a:avLst/>
          </a:prstGeom>
        </p:spPr>
      </p:pic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26650"/>
              </p:ext>
            </p:extLst>
          </p:nvPr>
        </p:nvGraphicFramePr>
        <p:xfrm>
          <a:off x="2819400" y="2781300"/>
          <a:ext cx="12344400" cy="6426200"/>
        </p:xfrm>
        <a:graphic>
          <a:graphicData uri="http://schemas.openxmlformats.org/drawingml/2006/table">
            <a:tbl>
              <a:tblPr/>
              <a:tblGrid>
                <a:gridCol w="1857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4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7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002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01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프로젝트 개요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05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변수 선택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02</a:t>
                      </a:r>
                      <a:endParaRPr lang="en-US" sz="300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도메인 </a:t>
                      </a:r>
                      <a:r>
                        <a:rPr lang="en-US" altLang="ko-KR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/ </a:t>
                      </a:r>
                      <a:r>
                        <a:rPr lang="ko-KR" altLang="en-US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비즈니스 이해</a:t>
                      </a:r>
                      <a:endParaRPr lang="en-US" altLang="ko-KR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06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anumBarunGothic" panose="020B0600000101010101" charset="-127"/>
                          <a:ea typeface="NanumBarunGothic" panose="020B0600000101010101" charset="-127"/>
                          <a:cs typeface="+mn-cs"/>
                        </a:rPr>
                        <a:t>모델링</a:t>
                      </a:r>
                      <a:endParaRPr kumimoji="0" lang="en-US" altLang="ko-KR" sz="3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NanumBarunGothic" panose="020B0600000101010101" charset="-127"/>
                        <a:ea typeface="NanumBarunGothic" panose="020B0600000101010101" charset="-127"/>
                        <a:cs typeface="+mn-cs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03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데이터 </a:t>
                      </a:r>
                      <a:r>
                        <a:rPr lang="en-US" altLang="ko-KR" sz="3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Overview &amp; EDA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07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비즈니스 임팩트</a:t>
                      </a:r>
                      <a:r>
                        <a:rPr lang="en-US" altLang="ko-KR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 &amp;</a:t>
                      </a:r>
                    </a:p>
                    <a:p>
                      <a:pPr lvl="0" algn="l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실행 인사이트</a:t>
                      </a:r>
                      <a:endParaRPr lang="en-US" altLang="ko-KR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04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파생변수 설계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00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939800" y="723900"/>
            <a:ext cx="15494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0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 Bold"/>
                <a:cs typeface="+mn-cs"/>
              </a:rPr>
              <a:t>목차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C4F707-4F56-47F8-5989-CA788CCFEF15}"/>
              </a:ext>
            </a:extLst>
          </p:cNvPr>
          <p:cNvSpPr txBox="1"/>
          <p:nvPr/>
        </p:nvSpPr>
        <p:spPr>
          <a:xfrm>
            <a:off x="15928538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2</a:t>
            </a: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90D58CDD-FA57-0FBB-622B-AD98C136B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600" y="7016750"/>
            <a:ext cx="7493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0ADFE-F736-F41E-9BE9-50227E835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7E9D95A-D468-BEC9-8178-E91500057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080E6DA5-23C8-68BC-E3BC-8F197B857AC8}"/>
              </a:ext>
            </a:extLst>
          </p:cNvPr>
          <p:cNvSpPr txBox="1"/>
          <p:nvPr/>
        </p:nvSpPr>
        <p:spPr>
          <a:xfrm>
            <a:off x="1327150" y="2933699"/>
            <a:ext cx="15792450" cy="101161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리볼빙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(RV, </a:t>
            </a:r>
            <a:r>
              <a:rPr kumimoji="0" lang="ko-KR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일부결제금액이월약정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: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결제 이후 상환 단계에서 약정 비율만 상환하고 잔액을 이월하는 서비스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				               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이월 잔액에는 높은 이자율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수수료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 적용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490F472-945B-86F7-8E00-EDA883E013CF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1.1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프로젝트 배경 및 문제 정의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B58D714-1B63-100E-EB7C-A53D3EAAE27E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1.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프로젝트 개요</a:t>
            </a:r>
          </a:p>
        </p:txBody>
      </p:sp>
      <p:pic>
        <p:nvPicPr>
          <p:cNvPr id="9" name="그림 8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20F042-27E8-567C-2C68-BAE3F9C4F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150" y="5508625"/>
            <a:ext cx="1720850" cy="17208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53B03E-23E7-AB68-02BC-3C9F23DA1F43}"/>
              </a:ext>
            </a:extLst>
          </p:cNvPr>
          <p:cNvSpPr txBox="1"/>
          <p:nvPr/>
        </p:nvSpPr>
        <p:spPr>
          <a:xfrm>
            <a:off x="1327150" y="7229475"/>
            <a:ext cx="1720850" cy="477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카드사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49FA23E-C423-469D-DDC6-9738F66C1E82}"/>
              </a:ext>
            </a:extLst>
          </p:cNvPr>
          <p:cNvCxnSpPr>
            <a:cxnSpLocks/>
          </p:cNvCxnSpPr>
          <p:nvPr/>
        </p:nvCxnSpPr>
        <p:spPr>
          <a:xfrm>
            <a:off x="3581400" y="6591300"/>
            <a:ext cx="2438400" cy="20574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27970DC-ECA5-961F-5448-CF07285A3D46}"/>
              </a:ext>
            </a:extLst>
          </p:cNvPr>
          <p:cNvCxnSpPr>
            <a:cxnSpLocks/>
          </p:cNvCxnSpPr>
          <p:nvPr/>
        </p:nvCxnSpPr>
        <p:spPr>
          <a:xfrm>
            <a:off x="3581400" y="6591300"/>
            <a:ext cx="24384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D120C54-2C40-E6E9-FB5D-2EC5236C609D}"/>
              </a:ext>
            </a:extLst>
          </p:cNvPr>
          <p:cNvCxnSpPr>
            <a:cxnSpLocks/>
          </p:cNvCxnSpPr>
          <p:nvPr/>
        </p:nvCxnSpPr>
        <p:spPr>
          <a:xfrm flipV="1">
            <a:off x="3581400" y="4737100"/>
            <a:ext cx="2438400" cy="185419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876BD88-1CD7-8928-BFDD-37A751C39232}"/>
              </a:ext>
            </a:extLst>
          </p:cNvPr>
          <p:cNvSpPr txBox="1"/>
          <p:nvPr/>
        </p:nvSpPr>
        <p:spPr>
          <a:xfrm>
            <a:off x="6019800" y="4306212"/>
            <a:ext cx="1720850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결제 중심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(Main)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502217-2E0F-F4F0-E664-72C1D59D29E5}"/>
              </a:ext>
            </a:extLst>
          </p:cNvPr>
          <p:cNvSpPr txBox="1"/>
          <p:nvPr/>
        </p:nvSpPr>
        <p:spPr>
          <a:xfrm>
            <a:off x="6019800" y="6352772"/>
            <a:ext cx="1720850" cy="477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금융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D6C3D6-0ED0-12BA-424C-24408099DFEB}"/>
              </a:ext>
            </a:extLst>
          </p:cNvPr>
          <p:cNvSpPr txBox="1"/>
          <p:nvPr/>
        </p:nvSpPr>
        <p:spPr>
          <a:xfrm>
            <a:off x="6019800" y="8410173"/>
            <a:ext cx="1720850" cy="477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부가 서비스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2A8596-0F5B-29EB-48AC-6A1B0682DB8E}"/>
              </a:ext>
            </a:extLst>
          </p:cNvPr>
          <p:cNvSpPr txBox="1"/>
          <p:nvPr/>
        </p:nvSpPr>
        <p:spPr>
          <a:xfrm>
            <a:off x="8128000" y="4502148"/>
            <a:ext cx="9118600" cy="4770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: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신용카드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체크카드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제휴카드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가맹점 결제 인프라 </a:t>
            </a:r>
            <a:r>
              <a:rPr kumimoji="0" lang="en-US" altLang="ko-KR" sz="2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etc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98898E-590E-C3FE-053B-0925C3BEC96C}"/>
              </a:ext>
            </a:extLst>
          </p:cNvPr>
          <p:cNvSpPr txBox="1"/>
          <p:nvPr/>
        </p:nvSpPr>
        <p:spPr>
          <a:xfrm>
            <a:off x="8128000" y="6352369"/>
            <a:ext cx="9118600" cy="4770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: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할부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현금서비스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단기카드대출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),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카드론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장기카드대출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), 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en-US" altLang="ko-KR" sz="2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etc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9261A7-FDE7-64F4-C2B0-39BA014DE71D}"/>
              </a:ext>
            </a:extLst>
          </p:cNvPr>
          <p:cNvSpPr txBox="1"/>
          <p:nvPr/>
        </p:nvSpPr>
        <p:spPr>
          <a:xfrm>
            <a:off x="8128000" y="8410173"/>
            <a:ext cx="9118600" cy="4770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: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보험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멤버쉽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en-US" altLang="ko-KR" sz="2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etc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ECDD6-1DA1-4F1A-4F10-54D45233CEBC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7533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DED3A2-1F38-70A2-A5E4-26B23614B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57958F1-73CA-47FE-0949-FA97C9385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054C21CD-FAF4-534E-861A-A758B532B5FF}"/>
              </a:ext>
            </a:extLst>
          </p:cNvPr>
          <p:cNvSpPr txBox="1"/>
          <p:nvPr/>
        </p:nvSpPr>
        <p:spPr>
          <a:xfrm>
            <a:off x="1295400" y="5486400"/>
            <a:ext cx="6629400" cy="57467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카드사에서의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의 위치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: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카드론의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16%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정도의 비중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C633640-7B92-0CA5-935B-AE94DC3EEF1D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1.1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프로젝트 배경 및 문제 정의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AE45D44-60C2-F7EA-F2F7-EE7324632CE4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1.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프로젝트 개요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243A58B-B48A-7E6E-C511-A627C9E7D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762813"/>
              </p:ext>
            </p:extLst>
          </p:nvPr>
        </p:nvGraphicFramePr>
        <p:xfrm>
          <a:off x="1936750" y="6215852"/>
          <a:ext cx="5073650" cy="3621096"/>
        </p:xfrm>
        <a:graphic>
          <a:graphicData uri="http://schemas.openxmlformats.org/drawingml/2006/table">
            <a:tbl>
              <a:tblPr/>
              <a:tblGrid>
                <a:gridCol w="253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5274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defRPr/>
                      </a:pPr>
                      <a:r>
                        <a:rPr lang="en-US" sz="2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2025.11 </a:t>
                      </a:r>
                      <a:r>
                        <a:rPr lang="ko-KR" altLang="en-US" sz="2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말 기준</a:t>
                      </a:r>
                      <a:endParaRPr lang="en-US" altLang="ko-KR" sz="20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  <a:p>
                      <a:pPr lvl="0" algn="ctr">
                        <a:lnSpc>
                          <a:spcPct val="150000"/>
                        </a:lnSpc>
                        <a:defRPr/>
                      </a:pPr>
                      <a:r>
                        <a:rPr lang="en-US" sz="1500" b="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(</a:t>
                      </a:r>
                      <a:r>
                        <a:rPr lang="ko-KR" altLang="en-US" sz="1500" b="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출처</a:t>
                      </a:r>
                      <a:r>
                        <a:rPr lang="en-US" altLang="ko-KR" sz="1500" b="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: </a:t>
                      </a:r>
                      <a:r>
                        <a:rPr lang="ko-KR" altLang="en-US" sz="1500" b="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여신금융협회</a:t>
                      </a:r>
                      <a:r>
                        <a:rPr lang="en-US" altLang="ko-KR" sz="1500" b="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)</a:t>
                      </a:r>
                      <a:endParaRPr lang="en-US" sz="1500" b="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잔액</a:t>
                      </a:r>
                      <a:endParaRPr lang="en-US" altLang="ko-KR" sz="2000" b="1" i="0" u="none" strike="noStrike" dirty="0">
                        <a:solidFill>
                          <a:srgbClr val="000000"/>
                        </a:solidFill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  <a:p>
                      <a:pPr lvl="0" algn="ctr">
                        <a:lnSpc>
                          <a:spcPct val="150000"/>
                        </a:lnSpc>
                        <a:defRPr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(</a:t>
                      </a:r>
                      <a:r>
                        <a:rPr lang="ko-KR" altLang="en-US" sz="15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단위 </a:t>
                      </a:r>
                      <a:r>
                        <a:rPr lang="en-US" altLang="ko-KR" sz="15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:</a:t>
                      </a:r>
                      <a:r>
                        <a:rPr lang="ko-KR" altLang="en-US" sz="15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 조 원</a:t>
                      </a:r>
                      <a:r>
                        <a:rPr lang="en-US" altLang="ko-KR" sz="15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)</a:t>
                      </a:r>
                      <a:endParaRPr lang="en-US" sz="1500" b="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2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카드론</a:t>
                      </a:r>
                      <a:endParaRPr lang="en-US" altLang="ko-KR" sz="2000" b="1" i="0" u="none" strike="noStrike" dirty="0">
                        <a:solidFill>
                          <a:srgbClr val="000000"/>
                        </a:solidFill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(</a:t>
                      </a: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장기카드대출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)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42.55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2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RV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6.77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2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현금서비스</a:t>
                      </a:r>
                      <a:endParaRPr lang="en-US" altLang="ko-KR" sz="20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(</a:t>
                      </a:r>
                      <a:r>
                        <a:rPr lang="ko-KR" altLang="en-US" sz="2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단기카드대출</a:t>
                      </a:r>
                      <a:r>
                        <a:rPr lang="en-US" altLang="ko-KR" sz="2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)</a:t>
                      </a:r>
                      <a:endParaRPr lang="en-US" sz="20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6.26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6">
            <a:extLst>
              <a:ext uri="{FF2B5EF4-FFF2-40B4-BE49-F238E27FC236}">
                <a16:creationId xmlns:a16="http://schemas.microsoft.com/office/drawing/2014/main" id="{D9A44365-FB38-8D19-AABC-C298B01DC820}"/>
              </a:ext>
            </a:extLst>
          </p:cNvPr>
          <p:cNvSpPr txBox="1"/>
          <p:nvPr/>
        </p:nvSpPr>
        <p:spPr>
          <a:xfrm>
            <a:off x="1295400" y="2892422"/>
            <a:ext cx="15824200" cy="57467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카드사의 수익 구조 변화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80E7AD92-F6E4-B718-CA11-C53D383FF64E}"/>
              </a:ext>
            </a:extLst>
          </p:cNvPr>
          <p:cNvSpPr txBox="1"/>
          <p:nvPr/>
        </p:nvSpPr>
        <p:spPr>
          <a:xfrm>
            <a:off x="1828800" y="3771900"/>
            <a:ext cx="3886200" cy="12192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lIns="0" tIns="0" rIns="0" bIns="0" rtlCol="0" anchor="t"/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중소가맹점 수수료율 인하 등으로  가맹점 수수료 관련 수익 감소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E9E3FB70-6E59-909E-56A1-AF8A0D322E05}"/>
              </a:ext>
            </a:extLst>
          </p:cNvPr>
          <p:cNvSpPr txBox="1"/>
          <p:nvPr/>
        </p:nvSpPr>
        <p:spPr>
          <a:xfrm>
            <a:off x="7010400" y="3771900"/>
            <a:ext cx="3886200" cy="12192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lIns="0" tIns="0" rIns="0" bIns="0" rtlCol="0" anchor="t"/>
          <a:lstStyle/>
          <a:p>
            <a:pPr lvl="0" algn="ctr">
              <a:lnSpc>
                <a:spcPct val="150000"/>
              </a:lnSpc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카드대출수익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이자성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수익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)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으로 가맹점 수수료 수익은 일부 보완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0E4D1F81-ED45-B8A6-C1F4-DDCF81CB3A74}"/>
              </a:ext>
            </a:extLst>
          </p:cNvPr>
          <p:cNvSpPr txBox="1"/>
          <p:nvPr/>
        </p:nvSpPr>
        <p:spPr>
          <a:xfrm>
            <a:off x="12182474" y="3619500"/>
            <a:ext cx="3886200" cy="15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lIns="0" tIns="0" rIns="0" bIns="0" rtlCol="0" anchor="t"/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장기적으로 수익 구조가 가맹점 수수료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결제 중심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)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에서 이자수익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금융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)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으로 이동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4B07F242-7811-63D5-3B30-9F62DB980FD0}"/>
              </a:ext>
            </a:extLst>
          </p:cNvPr>
          <p:cNvSpPr/>
          <p:nvPr/>
        </p:nvSpPr>
        <p:spPr>
          <a:xfrm>
            <a:off x="6096000" y="4249739"/>
            <a:ext cx="609600" cy="263522"/>
          </a:xfrm>
          <a:prstGeom prst="rightArrow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AE7CABD2-AC3F-85BB-12AA-023536C57DF2}"/>
              </a:ext>
            </a:extLst>
          </p:cNvPr>
          <p:cNvSpPr/>
          <p:nvPr/>
        </p:nvSpPr>
        <p:spPr>
          <a:xfrm>
            <a:off x="11234737" y="4249739"/>
            <a:ext cx="609600" cy="263522"/>
          </a:xfrm>
          <a:prstGeom prst="rightArrow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28DC29A-A155-F764-F353-DE7E3863D062}"/>
              </a:ext>
            </a:extLst>
          </p:cNvPr>
          <p:cNvCxnSpPr>
            <a:cxnSpLocks/>
          </p:cNvCxnSpPr>
          <p:nvPr/>
        </p:nvCxnSpPr>
        <p:spPr>
          <a:xfrm>
            <a:off x="5638800" y="8026400"/>
            <a:ext cx="152400" cy="2286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A39004A-E5EF-7FD0-AF56-E235D6378168}"/>
              </a:ext>
            </a:extLst>
          </p:cNvPr>
          <p:cNvCxnSpPr>
            <a:cxnSpLocks/>
          </p:cNvCxnSpPr>
          <p:nvPr/>
        </p:nvCxnSpPr>
        <p:spPr>
          <a:xfrm flipH="1">
            <a:off x="5791200" y="8026400"/>
            <a:ext cx="152400" cy="2286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415438C-63CE-5236-9287-E7EEFEE27AEB}"/>
              </a:ext>
            </a:extLst>
          </p:cNvPr>
          <p:cNvSpPr/>
          <p:nvPr/>
        </p:nvSpPr>
        <p:spPr>
          <a:xfrm>
            <a:off x="8610600" y="6215852"/>
            <a:ext cx="8509000" cy="36210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0078DE-BE3C-7B1F-CE50-5DDB27E2E599}"/>
              </a:ext>
            </a:extLst>
          </p:cNvPr>
          <p:cNvSpPr txBox="1"/>
          <p:nvPr/>
        </p:nvSpPr>
        <p:spPr>
          <a:xfrm>
            <a:off x="8610600" y="6389509"/>
            <a:ext cx="8509000" cy="3273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/>
              <a:t>카드사 수익 구조가 가맹점 수수료 중심에서 </a:t>
            </a:r>
            <a:r>
              <a:rPr lang="ko-KR" altLang="en-US" sz="2000" b="1" dirty="0" err="1"/>
              <a:t>이자성</a:t>
            </a:r>
            <a:r>
              <a:rPr lang="ko-KR" altLang="en-US" sz="2000" b="1" dirty="0"/>
              <a:t> 수익 중심</a:t>
            </a:r>
            <a:r>
              <a:rPr lang="ko-KR" altLang="en-US" sz="2000" dirty="0"/>
              <a:t>으로 이동하는 가운데</a:t>
            </a:r>
            <a:r>
              <a:rPr lang="en-US" altLang="ko-KR" sz="2000" dirty="0"/>
              <a:t> RV</a:t>
            </a:r>
            <a:r>
              <a:rPr lang="ko-KR" altLang="en-US" sz="2000" dirty="0"/>
              <a:t>는 주요 </a:t>
            </a:r>
            <a:r>
              <a:rPr lang="ko-KR" altLang="en-US" sz="2000" dirty="0" err="1"/>
              <a:t>이자성</a:t>
            </a:r>
            <a:r>
              <a:rPr lang="ko-KR" altLang="en-US" sz="2000" dirty="0"/>
              <a:t> 상품 중 하나이고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RV </a:t>
            </a:r>
            <a:r>
              <a:rPr lang="ko-KR" altLang="en-US" sz="2000" dirty="0"/>
              <a:t>잔액은 카드론 대비 </a:t>
            </a:r>
            <a:r>
              <a:rPr lang="ko-KR" altLang="en-US" sz="2000" b="1" dirty="0"/>
              <a:t>약 </a:t>
            </a:r>
            <a:r>
              <a:rPr lang="en-US" altLang="ko-KR" sz="2000" b="1" dirty="0"/>
              <a:t>16% </a:t>
            </a:r>
            <a:r>
              <a:rPr lang="ko-KR" altLang="en-US" sz="2000" b="1" dirty="0"/>
              <a:t>수준</a:t>
            </a:r>
            <a:r>
              <a:rPr lang="ko-KR" altLang="en-US" sz="2000" dirty="0"/>
              <a:t>으로 무시하기 어려운 규모이며</a:t>
            </a:r>
            <a:r>
              <a:rPr lang="en-US" altLang="ko-KR" sz="2000" dirty="0"/>
              <a:t>, </a:t>
            </a:r>
            <a:r>
              <a:rPr lang="ko-KR" altLang="en-US" sz="2000" dirty="0"/>
              <a:t>현금서비스와 유사한 잔액 규모를 보인다</a:t>
            </a:r>
            <a:r>
              <a:rPr lang="en-US" altLang="ko-KR" sz="2000" dirty="0"/>
              <a:t>.</a:t>
            </a:r>
            <a:r>
              <a:rPr lang="ko-KR" altLang="en-US" sz="2000" dirty="0"/>
              <a:t> </a:t>
            </a:r>
            <a:r>
              <a:rPr lang="en-US" altLang="ko-KR" sz="2000" dirty="0"/>
              <a:t>RV</a:t>
            </a:r>
            <a:r>
              <a:rPr lang="ko-KR" altLang="en-US" sz="2000" dirty="0"/>
              <a:t>는 이월 잔액에 높은 수수료가 부과되어</a:t>
            </a:r>
            <a:r>
              <a:rPr lang="en-US" altLang="ko-KR" sz="2000" dirty="0"/>
              <a:t> </a:t>
            </a:r>
            <a:r>
              <a:rPr lang="ko-KR" altLang="en-US" sz="2000" dirty="0"/>
              <a:t>잔액 규모에 따라 수익 영향이 크게 달라진다</a:t>
            </a:r>
            <a:r>
              <a:rPr lang="en-US" altLang="ko-KR" sz="2000" dirty="0"/>
              <a:t>.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algn="ctr">
              <a:lnSpc>
                <a:spcPct val="150000"/>
              </a:lnSpc>
            </a:pPr>
            <a:r>
              <a:rPr lang="ko-KR" altLang="en-US" sz="2000" dirty="0"/>
              <a:t>따라서 고객의 </a:t>
            </a:r>
            <a:r>
              <a:rPr lang="en-US" altLang="ko-KR" sz="2000" b="1" dirty="0"/>
              <a:t>RV </a:t>
            </a:r>
            <a:r>
              <a:rPr lang="ko-KR" altLang="en-US" sz="2000" b="1" dirty="0"/>
              <a:t>잔액을 예측</a:t>
            </a:r>
            <a:r>
              <a:rPr lang="ko-KR" altLang="en-US" sz="2000" dirty="0"/>
              <a:t>할 수 있다면</a:t>
            </a:r>
            <a:r>
              <a:rPr lang="en-US" altLang="ko-KR" sz="2000" dirty="0"/>
              <a:t> </a:t>
            </a:r>
            <a:r>
              <a:rPr lang="ko-KR" altLang="en-US" sz="2000" dirty="0"/>
              <a:t>수익 기회를 정교하게 관리하고 연체</a:t>
            </a:r>
            <a:r>
              <a:rPr lang="en-US" altLang="ko-KR" sz="2000" dirty="0"/>
              <a:t>·</a:t>
            </a:r>
            <a:r>
              <a:rPr lang="ko-KR" altLang="en-US" sz="2000" dirty="0"/>
              <a:t>부실로 전이될 수 있는 </a:t>
            </a:r>
            <a:r>
              <a:rPr lang="ko-KR" altLang="en-US" sz="2000" b="1" dirty="0"/>
              <a:t>잠재 위험 고객을 조기 식별</a:t>
            </a:r>
            <a:r>
              <a:rPr lang="ko-KR" altLang="en-US" sz="2000" dirty="0"/>
              <a:t>할 수 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3B3D1A-AFDD-B75A-D8EC-07CFEEFE9B59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9794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FAF69-ABD8-F776-3473-E26160E8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05D6836-5B09-33E7-F01F-805E53337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E03D030B-AE60-1641-5A1A-DFA7C4A8724A}"/>
              </a:ext>
            </a:extLst>
          </p:cNvPr>
          <p:cNvSpPr txBox="1"/>
          <p:nvPr/>
        </p:nvSpPr>
        <p:spPr>
          <a:xfrm>
            <a:off x="1247775" y="3543300"/>
            <a:ext cx="15792450" cy="521876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914400" lvl="1" indent="-457200">
              <a:lnSpc>
                <a:spcPct val="300000"/>
              </a:lnSpc>
              <a:buFont typeface="+mj-lt"/>
              <a:buAutoNum type="arabicPeriod"/>
              <a:defRPr/>
            </a:pPr>
            <a:r>
              <a:rPr lang="en-US" altLang="ko-KR" sz="2500" b="1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500" b="1" dirty="0">
                <a:latin typeface="NanumBarunGothic" panose="020B0600000101010101" charset="-127"/>
                <a:ea typeface="NanumBarunGothic" panose="020B0600000101010101" charset="-127"/>
              </a:rPr>
              <a:t>일시불 잔액에 영향을 미치는 주요 요인을 도출한다</a:t>
            </a:r>
            <a:r>
              <a:rPr lang="en-US" altLang="ko-KR" sz="2500" b="1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914400" lvl="1" indent="-457200">
              <a:lnSpc>
                <a:spcPct val="300000"/>
              </a:lnSpc>
              <a:buFont typeface="+mj-lt"/>
              <a:buAutoNum type="arabicPeriod"/>
              <a:defRPr/>
            </a:pPr>
            <a:r>
              <a:rPr lang="ko-KR" altLang="en-US" sz="2500" b="1" dirty="0">
                <a:latin typeface="NanumBarunGothic" panose="020B0600000101010101" charset="-127"/>
                <a:ea typeface="NanumBarunGothic" panose="020B0600000101010101" charset="-127"/>
              </a:rPr>
              <a:t>가설 검정과 예측 모델을 통해 </a:t>
            </a:r>
            <a:r>
              <a:rPr lang="en-US" altLang="ko-KR" sz="2500" b="1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500" b="1" dirty="0">
                <a:latin typeface="NanumBarunGothic" panose="020B0600000101010101" charset="-127"/>
                <a:ea typeface="NanumBarunGothic" panose="020B0600000101010101" charset="-127"/>
              </a:rPr>
              <a:t>일시불 잔액을 설명</a:t>
            </a:r>
            <a:r>
              <a:rPr lang="en-US" altLang="ko-KR" sz="2500" b="1" dirty="0"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sz="2500" b="1" dirty="0">
                <a:latin typeface="NanumBarunGothic" panose="020B0600000101010101" charset="-127"/>
                <a:ea typeface="NanumBarunGothic" panose="020B0600000101010101" charset="-127"/>
              </a:rPr>
              <a:t>예측한다</a:t>
            </a:r>
            <a:r>
              <a:rPr lang="en-US" altLang="ko-KR" sz="2500" b="1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914400" lvl="1" indent="-457200">
              <a:lnSpc>
                <a:spcPct val="300000"/>
              </a:lnSpc>
              <a:buFont typeface="+mj-lt"/>
              <a:buAutoNum type="arabicPeriod"/>
              <a:defRPr/>
            </a:pPr>
            <a:r>
              <a:rPr lang="ko-KR" altLang="en-US" sz="2500" b="1" dirty="0">
                <a:latin typeface="NanumBarunGothic" panose="020B0600000101010101" charset="-127"/>
                <a:ea typeface="NanumBarunGothic" panose="020B0600000101010101" charset="-127"/>
              </a:rPr>
              <a:t>모델 결과를 바탕으로</a:t>
            </a:r>
            <a:r>
              <a:rPr lang="en-US" altLang="ko-KR" sz="2500" b="1" dirty="0"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500" b="1" dirty="0">
                <a:latin typeface="NanumBarunGothic" panose="020B0600000101010101" charset="-127"/>
                <a:ea typeface="NanumBarunGothic" panose="020B0600000101010101" charset="-127"/>
              </a:rPr>
              <a:t>실무에서 활용 가능한 인사이트와 적용 방안을 제시한다</a:t>
            </a:r>
            <a:r>
              <a:rPr lang="en-US" altLang="ko-KR" sz="2500" b="1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endParaRPr lang="en-US" altLang="ko-KR" sz="2500" b="1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668630C-7B78-3B39-69FC-923C2533658C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1.2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프로젝트 목표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62FF5F1-7FF0-0DA1-164B-7920174806B3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1.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프로젝트 개요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8BECF-E390-0EE8-B13A-E6E6204CCF54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2480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38F2B-5D0D-2AB2-72DE-E07182C53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31AF8A5-5574-5360-1928-CA944D7D1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7558448D-5632-2886-D42B-A508E1E7F48F}"/>
              </a:ext>
            </a:extLst>
          </p:cNvPr>
          <p:cNvSpPr txBox="1"/>
          <p:nvPr/>
        </p:nvSpPr>
        <p:spPr>
          <a:xfrm>
            <a:off x="939800" y="2592387"/>
            <a:ext cx="15792450" cy="735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400" b="1" dirty="0">
                <a:latin typeface="NanumBarunGothic" panose="020B0600000101010101" charset="-127"/>
                <a:ea typeface="NanumBarunGothic" panose="020B0600000101010101" charset="-127"/>
              </a:rPr>
              <a:t>2018</a:t>
            </a:r>
            <a:r>
              <a:rPr lang="ko-KR" altLang="en-US" sz="2400" b="1" dirty="0">
                <a:latin typeface="NanumBarunGothic" panose="020B0600000101010101" charset="-127"/>
                <a:ea typeface="NanumBarunGothic" panose="020B0600000101010101" charset="-127"/>
              </a:rPr>
              <a:t>년 고객 카드 이용 정보</a:t>
            </a:r>
            <a:r>
              <a:rPr lang="en-US" altLang="ko-KR" sz="2400" b="1" dirty="0"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400" b="1" dirty="0">
                <a:latin typeface="NanumBarunGothic" panose="020B0600000101010101" charset="-127"/>
                <a:ea typeface="NanumBarunGothic" panose="020B0600000101010101" charset="-127"/>
              </a:rPr>
              <a:t>신용 관련 지표</a:t>
            </a:r>
            <a:r>
              <a:rPr lang="en-US" altLang="ko-KR" sz="2400" b="1" dirty="0">
                <a:latin typeface="NanumBarunGothic" panose="020B0600000101010101" charset="-127"/>
                <a:ea typeface="NanumBarunGothic" panose="020B0600000101010101" charset="-127"/>
              </a:rPr>
              <a:t>, RV</a:t>
            </a:r>
            <a:r>
              <a:rPr lang="ko-KR" altLang="en-US" sz="2400" b="1" dirty="0">
                <a:latin typeface="NanumBarunGothic" panose="020B0600000101010101" charset="-127"/>
                <a:ea typeface="NanumBarunGothic" panose="020B0600000101010101" charset="-127"/>
              </a:rPr>
              <a:t> 잔액 데이터를 활용하여 진행</a:t>
            </a:r>
            <a:endParaRPr lang="en-US" altLang="ko-KR" sz="22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전체 데이터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에서</a:t>
            </a:r>
            <a:r>
              <a:rPr lang="en-US" altLang="ko-KR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22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2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이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0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이상인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고객만 선별 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= 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현재 </a:t>
            </a:r>
            <a:r>
              <a:rPr kumimoji="0" lang="ko-KR" alt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리볼빙을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이용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하고 있는 고객</a:t>
            </a:r>
            <a:endParaRPr kumimoji="0" lang="en-US" altLang="ko-KR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1714500" lvl="3" indent="-342900">
              <a:lnSpc>
                <a:spcPct val="150000"/>
              </a:lnSpc>
              <a:buFontTx/>
              <a:buChar char="-"/>
              <a:defRPr/>
            </a:pP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본 분석은 결제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상환 행동과의 연관성을 분석하기 위해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, RV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일시불 잔액을 예측 타깃으로 설정했다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T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raining set : 10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월의 데이터를 활용하여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11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월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의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일시불 잔액을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타겟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으로 삼음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T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est set : 11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월의 데이터를 활용하여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12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월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의 </a:t>
            </a:r>
            <a:r>
              <a:rPr lang="en-US" altLang="ko-KR" sz="22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2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잔액을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타겟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으로 삼음</a:t>
            </a:r>
            <a:endParaRPr lang="en-US" altLang="ko-KR" sz="10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2">
              <a:lnSpc>
                <a:spcPct val="150000"/>
              </a:lnSpc>
              <a:defRPr/>
            </a:pPr>
            <a:endParaRPr kumimoji="0" lang="en-US" altLang="ko-KR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400" b="1" dirty="0">
                <a:latin typeface="NanumBarunGothic" panose="020B0600000101010101" charset="-127"/>
                <a:ea typeface="NanumBarunGothic" panose="020B0600000101010101" charset="-127"/>
              </a:rPr>
              <a:t>접근 구성</a:t>
            </a:r>
            <a:endParaRPr lang="en-US" altLang="ko-KR" sz="2400" b="1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2">
              <a:lnSpc>
                <a:spcPct val="200000"/>
              </a:lnSpc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2">
              <a:lnSpc>
                <a:spcPct val="200000"/>
              </a:lnSpc>
              <a:defRPr/>
            </a:pP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													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*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출처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:         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hlinkClick r:id="rId3"/>
              </a:rPr>
              <a:t>AI-Hub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0770A65-7AF6-00BA-1306-98445ACC2A60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1.3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분석 범위 및 접근 방법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BC8B037-6592-120C-666E-545FA6B448CA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1.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프로젝트 개요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72322D6-BE5B-B584-B568-F4861FA41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6600" y="9428553"/>
            <a:ext cx="409575" cy="409575"/>
          </a:xfrm>
          <a:prstGeom prst="rect">
            <a:avLst/>
          </a:prstGeom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559D8CE8-296E-E5CF-0D94-1ABF0233DA85}"/>
              </a:ext>
            </a:extLst>
          </p:cNvPr>
          <p:cNvSpPr txBox="1"/>
          <p:nvPr/>
        </p:nvSpPr>
        <p:spPr>
          <a:xfrm>
            <a:off x="2108200" y="6463504"/>
            <a:ext cx="2590800" cy="576263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lIns="0" tIns="0" rIns="0" bIns="0" rtlCol="0" anchor="t"/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Data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이해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1DC339B5-D1A4-CE57-180B-46FAAF58678D}"/>
              </a:ext>
            </a:extLst>
          </p:cNvPr>
          <p:cNvSpPr txBox="1"/>
          <p:nvPr/>
        </p:nvSpPr>
        <p:spPr>
          <a:xfrm>
            <a:off x="6883400" y="6463504"/>
            <a:ext cx="2590800" cy="576263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lIns="0" tIns="0" rIns="0" bIns="0" rtlCol="0" anchor="t"/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Feature &amp;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검증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4E34BE4C-5CC7-34A8-0AE6-875D5C407AB2}"/>
              </a:ext>
            </a:extLst>
          </p:cNvPr>
          <p:cNvSpPr txBox="1"/>
          <p:nvPr/>
        </p:nvSpPr>
        <p:spPr>
          <a:xfrm>
            <a:off x="11658600" y="6463504"/>
            <a:ext cx="2590800" cy="576263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lIns="0" tIns="0" rIns="0" bIns="0" rtlCol="0" anchor="t"/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Model &amp;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적용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021107-7B70-EA74-C104-678775B4313D}"/>
              </a:ext>
            </a:extLst>
          </p:cNvPr>
          <p:cNvSpPr txBox="1"/>
          <p:nvPr/>
        </p:nvSpPr>
        <p:spPr>
          <a:xfrm>
            <a:off x="6661150" y="7440612"/>
            <a:ext cx="3429000" cy="1419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파생변수 설계</a:t>
            </a:r>
            <a:endParaRPr lang="en-US" altLang="ko-KR" sz="23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통계 검정으로 관계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1FA924-6C2C-DB86-0F56-9421DFF3869F}"/>
              </a:ext>
            </a:extLst>
          </p:cNvPr>
          <p:cNvSpPr txBox="1"/>
          <p:nvPr/>
        </p:nvSpPr>
        <p:spPr>
          <a:xfrm>
            <a:off x="11436350" y="7440611"/>
            <a:ext cx="3429000" cy="1419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파생변수 설계</a:t>
            </a:r>
            <a:endParaRPr lang="en-US" altLang="ko-KR" sz="23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통계 검정으로 관계 확인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BC43F1-95FF-3592-C1CD-83F5A0E18817}"/>
              </a:ext>
            </a:extLst>
          </p:cNvPr>
          <p:cNvSpPr txBox="1"/>
          <p:nvPr/>
        </p:nvSpPr>
        <p:spPr>
          <a:xfrm>
            <a:off x="1885950" y="7440612"/>
            <a:ext cx="3594100" cy="1419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EDA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로  분포 및 타겟 파악</a:t>
            </a:r>
            <a:endParaRPr lang="en-US" altLang="ko-KR" sz="23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도메인 기반 가설 설정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758C276C-9F07-78D7-9545-4D5BD98FE7CD}"/>
              </a:ext>
            </a:extLst>
          </p:cNvPr>
          <p:cNvSpPr/>
          <p:nvPr/>
        </p:nvSpPr>
        <p:spPr>
          <a:xfrm>
            <a:off x="5537200" y="6619874"/>
            <a:ext cx="609600" cy="263522"/>
          </a:xfrm>
          <a:prstGeom prst="rightArrow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16335755-D29E-BAB6-2FDC-36973107BF85}"/>
              </a:ext>
            </a:extLst>
          </p:cNvPr>
          <p:cNvSpPr/>
          <p:nvPr/>
        </p:nvSpPr>
        <p:spPr>
          <a:xfrm>
            <a:off x="10312400" y="6619874"/>
            <a:ext cx="609600" cy="263522"/>
          </a:xfrm>
          <a:prstGeom prst="rightArrow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15294-D768-3FE2-FB42-00DB214885C3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9259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109329-2401-1547-FB8A-4C49F4D67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1A8C80-038D-60CD-77F1-297018297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A4988B2F-7F55-33DB-9822-CE2FC492CA60}"/>
              </a:ext>
            </a:extLst>
          </p:cNvPr>
          <p:cNvSpPr txBox="1"/>
          <p:nvPr/>
        </p:nvSpPr>
        <p:spPr>
          <a:xfrm>
            <a:off x="1327150" y="2933700"/>
            <a:ext cx="15792450" cy="701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lvl="1" indent="-342900">
              <a:lnSpc>
                <a:spcPct val="300000"/>
              </a:lnSpc>
              <a:buFont typeface="Arial" panose="020B0604020202020204" pitchFamily="34" charset="0"/>
              <a:buChar char="•"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L="800100" lvl="1" indent="-342900">
              <a:lnSpc>
                <a:spcPct val="3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4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4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 급증 가능 고객을 조기에 식별할 수 있는 기준을 제시한다</a:t>
            </a:r>
            <a:r>
              <a:rPr lang="en-US" altLang="ko-KR" sz="24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800100" lvl="1" indent="-342900">
              <a:lnSpc>
                <a:spcPct val="300000"/>
              </a:lnSpc>
              <a:buFont typeface="Arial" panose="020B0604020202020204" pitchFamily="34" charset="0"/>
              <a:buChar char="•"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고객군별 운영 액션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한도 조정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안내 캠페인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상환 유도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의 근거를 제공한다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  <a:p>
            <a:pPr marL="800100" lvl="1" indent="-342900">
              <a:lnSpc>
                <a:spcPct val="300000"/>
              </a:lnSpc>
              <a:buFont typeface="Arial" panose="020B0604020202020204" pitchFamily="34" charset="0"/>
              <a:buChar char="•"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리스크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연체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/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부실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와 수익성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정상 상환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의 균형을 고려한 고객 관리 체계를 지원한다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597D7F0-2B13-4735-1459-4D5EA8A18D6B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1.4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기대효과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69F1ACD-F9E9-A4F7-3C96-8D71C0AC1B5C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1.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프로젝트 개요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15A6B2-0EDC-3653-2F6F-3BF7864092B9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7173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C6F29B-F5B8-7C51-AB83-703AE3B94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8A045DC-FC17-474E-F2DE-D89A70618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CD020964-A6BB-06B6-8E81-38B1871B01FF}"/>
              </a:ext>
            </a:extLst>
          </p:cNvPr>
          <p:cNvSpPr txBox="1"/>
          <p:nvPr/>
        </p:nvSpPr>
        <p:spPr>
          <a:xfrm>
            <a:off x="1327150" y="2933700"/>
            <a:ext cx="15633700" cy="605696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잔액은 이월 잔액에 수수료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이자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가 부과되는 구조이므로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 규모가 곧 </a:t>
            </a:r>
            <a:r>
              <a:rPr kumimoji="0" lang="ko-KR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이자성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수익의 핵심이 된다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카드사 입장에서는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잔액이 증가하는 고객을 ‘추가 수익 </a:t>
            </a:r>
            <a:r>
              <a:rPr kumimoji="0" lang="ko-KR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기회’로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볼 수 있지만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동시에 상환 부담 누적으로 연체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·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부실로 전이될 수 있는 신호로 관리해야 한다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따라서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잔액은 ‘금액 </a:t>
            </a:r>
            <a:r>
              <a:rPr kumimoji="0" lang="ko-KR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자체’뿐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아니라 증가 속도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·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결제 패턴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·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이용 한도 대비 비중을 함께 보며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캠페인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상환 유도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)·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한도 관리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·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조기 경보 등 운영 액션으로 연결되는 관리 지표다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R="0" lvl="1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결론적으로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잔액은 ‘수익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이자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)’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과 ‘리스크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연체 전이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)’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를 동시에 담는 지표이므로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잔액의 수준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·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증가 추세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·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한도 대비 비중을 기반으로 고객을 세분화하고 </a:t>
            </a:r>
            <a:r>
              <a:rPr kumimoji="0" lang="ko-KR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선제적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운영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상환 유도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·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한도 조정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을 설계해야 한다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894CC66-73B3-775A-AE9B-27DC380C7670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marR="0" lvl="0" indent="-45720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카드사 관점에서의 </a:t>
            </a:r>
            <a:r>
              <a:rPr lang="en-US" altLang="ko-KR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잔액의 의미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D56033E-64F0-BF6A-8E05-50418AC6C2B3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2.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도메인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/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비즈니스 이해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 </a:t>
            </a: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B637A6-7A99-FCC0-A674-5AA93D12516C}"/>
              </a:ext>
            </a:extLst>
          </p:cNvPr>
          <p:cNvSpPr/>
          <p:nvPr/>
        </p:nvSpPr>
        <p:spPr>
          <a:xfrm>
            <a:off x="1297469" y="6134100"/>
            <a:ext cx="15822131" cy="2057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528385-423A-354D-22A3-9244E0510210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0861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36679-9A3A-2312-93FA-79CE83382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EB862B0-A30E-0FA7-4A8D-0C1DE367D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6542AFBA-D78C-B88D-ADEF-52E8782F5635}"/>
              </a:ext>
            </a:extLst>
          </p:cNvPr>
          <p:cNvSpPr txBox="1"/>
          <p:nvPr/>
        </p:nvSpPr>
        <p:spPr>
          <a:xfrm>
            <a:off x="1327150" y="2933699"/>
            <a:ext cx="15792450" cy="411830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marR="0" lvl="1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Training set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은 고객 단위 데이터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행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=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고객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1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명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로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83,403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명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× 227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개 컬럼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입력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226 +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타깃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1)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로 구성된다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  <a:p>
            <a:pPr marL="800100" marR="0" lvl="1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컬럼은 크게 ①고객 특성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연령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·VIP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등급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), ②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이용 행태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이용금액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/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건수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/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), ③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상환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리스크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연체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/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한도 등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)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정보로 구성된다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800100" marR="0" lvl="1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타겟은 다음달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(11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월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) RV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이월 잔액이며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아래는 입력 시점인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10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월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(B0M)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 분포이다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  <a:defRPr/>
            </a:pP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이월 잔액은 평균 약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130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만원이며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우측 꼬리가 긴</a:t>
            </a: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3">
              <a:lnSpc>
                <a:spcPct val="150000"/>
              </a:lnSpc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분포를 보인다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 (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큰 금액 소수 존재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) 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6A97D49-8C66-5FF4-0C31-40121EA2FA4B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3.1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데이터 구성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5178C8E-B2C1-FAF1-02EB-DE204E133CFC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3.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데이터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Overview &amp; EDA</a:t>
            </a:r>
          </a:p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pic>
        <p:nvPicPr>
          <p:cNvPr id="5" name="그림 4" descr="도표, 텍스트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A551BD-9C60-07F7-58E7-9DF86D890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200" y="5676900"/>
            <a:ext cx="6248400" cy="3886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38527ED-AA6F-426F-7098-0F286D33B366}"/>
              </a:ext>
            </a:extLst>
          </p:cNvPr>
          <p:cNvSpPr/>
          <p:nvPr/>
        </p:nvSpPr>
        <p:spPr>
          <a:xfrm>
            <a:off x="1336675" y="7277099"/>
            <a:ext cx="9188450" cy="20170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BB1E401A-C774-533C-A1D5-FE218AE57D1B}"/>
              </a:ext>
            </a:extLst>
          </p:cNvPr>
          <p:cNvSpPr txBox="1"/>
          <p:nvPr/>
        </p:nvSpPr>
        <p:spPr>
          <a:xfrm>
            <a:off x="1327150" y="7277100"/>
            <a:ext cx="9188450" cy="20170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50000"/>
              </a:lnSpc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이후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EDA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에서는 타겟과 연관된 주요 변수를 식별하고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</a:t>
            </a:r>
          </a:p>
          <a:p>
            <a:pPr algn="ctr">
              <a:lnSpc>
                <a:spcPct val="150000"/>
              </a:lnSpc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예측 모델을 통해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 변동 요인을 설명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·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예측한다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D9DB85-03CB-7BB2-1F6D-A1CFCE6D935B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7519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4F856-8020-1008-1E67-C7E6867CE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64B75DA-18A8-E96B-F825-C8595B826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2FBF9E8E-3706-F723-2CC2-D1A070948093}"/>
              </a:ext>
            </a:extLst>
          </p:cNvPr>
          <p:cNvSpPr txBox="1"/>
          <p:nvPr/>
        </p:nvSpPr>
        <p:spPr>
          <a:xfrm>
            <a:off x="1327150" y="2933700"/>
            <a:ext cx="15894050" cy="210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상관관계 분석 결과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카드 이용금액</a:t>
            </a:r>
            <a:r>
              <a:rPr lang="en-US" altLang="ko-KR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이용건수 등 ‘이용 규모’ 변수와 </a:t>
            </a:r>
            <a:r>
              <a:rPr lang="en-US" altLang="ko-KR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 간 상관은 전반적으로 낮았다</a:t>
            </a:r>
            <a:r>
              <a:rPr lang="en-US" altLang="ko-KR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반면 </a:t>
            </a:r>
            <a:r>
              <a:rPr lang="ko-KR" altLang="en-US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한도 수준 및 한도 </a:t>
            </a:r>
            <a:r>
              <a:rPr lang="ko-KR" altLang="en-US" sz="2300" b="1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관련 변수는 상대적으로 더 높은 양</a:t>
            </a:r>
            <a:r>
              <a:rPr lang="en-US" altLang="ko-KR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(+)</a:t>
            </a:r>
            <a:r>
              <a:rPr lang="ko-KR" altLang="en-US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의 상관관계를 보였다</a:t>
            </a:r>
            <a:r>
              <a:rPr lang="en-US" altLang="ko-KR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다만 </a:t>
            </a:r>
            <a:r>
              <a:rPr lang="ko-KR" altLang="en-US" sz="23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산점도에서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확인되듯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동일한 한도 </a:t>
            </a:r>
            <a:r>
              <a:rPr lang="ko-KR" altLang="en-US" sz="2300" b="1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구간에서도 </a:t>
            </a:r>
            <a:r>
              <a:rPr lang="en-US" altLang="ko-KR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잔액의 분산이 크게 나타나 단일 변수만으로 잔액 수준을 충분히 설명하기 어렵다</a:t>
            </a:r>
            <a:r>
              <a:rPr lang="en-US" altLang="ko-KR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1">
              <a:lnSpc>
                <a:spcPct val="150000"/>
              </a:lnSpc>
              <a:defRPr/>
            </a:pPr>
            <a:r>
              <a:rPr kumimoji="0" lang="en-US" altLang="ko-KR" sz="23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E34BA7D-ED36-E27D-B782-E67F4B89C6AE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3.2 EDA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CE45FA7-2284-1794-2B36-E47BE33EADFA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3.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데이터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Overview &amp; EDA</a:t>
            </a:r>
          </a:p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pic>
        <p:nvPicPr>
          <p:cNvPr id="4" name="그림 3" descr="텍스트, 스크린샷, 사각형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7697F8-8F20-FF1C-AF2C-4AE878620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337" y="5245101"/>
            <a:ext cx="5257800" cy="47777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" name="그림 8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2645D8-6CAD-6313-D995-B0F87D95A3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369" y="5245101"/>
            <a:ext cx="7239000" cy="47777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7EF0C783-481F-72EA-9C4F-B4F20367C357}"/>
                  </a:ext>
                </a:extLst>
              </p14:cNvPr>
              <p14:cNvContentPartPr/>
              <p14:nvPr/>
            </p14:nvContentPartPr>
            <p14:xfrm>
              <a:off x="6487016" y="5756502"/>
              <a:ext cx="157768" cy="45719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7EF0C783-481F-72EA-9C4F-B4F20367C3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50996" y="-3387298"/>
                <a:ext cx="229448" cy="1828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6A42753D-331A-60C0-B927-D153148B4748}"/>
                  </a:ext>
                </a:extLst>
              </p14:cNvPr>
              <p14:cNvContentPartPr/>
              <p14:nvPr/>
            </p14:nvContentPartPr>
            <p14:xfrm>
              <a:off x="4763237" y="5751943"/>
              <a:ext cx="159782" cy="45719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6A42753D-331A-60C0-B927-D153148B47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27331" y="-3391857"/>
                <a:ext cx="231235" cy="1828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0AEF15ED-68C4-C984-8EF6-E16D41E5C4FB}"/>
                  </a:ext>
                </a:extLst>
              </p14:cNvPr>
              <p14:cNvContentPartPr/>
              <p14:nvPr/>
            </p14:nvContentPartPr>
            <p14:xfrm>
              <a:off x="6644784" y="9313698"/>
              <a:ext cx="45719" cy="230933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0AEF15ED-68C4-C984-8EF6-E16D41E5C4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72884" y="9241756"/>
                <a:ext cx="9143800" cy="3744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DA9512A9-6386-1D2A-5F56-4D06DC913FEA}"/>
                  </a:ext>
                </a:extLst>
              </p14:cNvPr>
              <p14:cNvContentPartPr/>
              <p14:nvPr/>
            </p14:nvContentPartPr>
            <p14:xfrm>
              <a:off x="4920206" y="9313698"/>
              <a:ext cx="360" cy="36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DA9512A9-6386-1D2A-5F56-4D06DC913FE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84206" y="9241698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0827ADE0-42C9-C728-09D4-54E53C9D979C}"/>
                  </a:ext>
                </a:extLst>
              </p14:cNvPr>
              <p14:cNvContentPartPr/>
              <p14:nvPr/>
            </p14:nvContentPartPr>
            <p14:xfrm>
              <a:off x="4058921" y="9122537"/>
              <a:ext cx="45719" cy="382322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0827ADE0-42C9-C728-09D4-54E53C9D979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512979" y="9050537"/>
                <a:ext cx="9143800" cy="525963"/>
              </a:xfrm>
              <a:prstGeom prst="rect">
                <a:avLst/>
              </a:prstGeom>
            </p:spPr>
          </p:pic>
        </mc:Fallback>
      </mc:AlternateContent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57A69BD5-2F43-D7B0-EBBF-990B5400CF2C}"/>
              </a:ext>
            </a:extLst>
          </p:cNvPr>
          <p:cNvCxnSpPr>
            <a:cxnSpLocks/>
          </p:cNvCxnSpPr>
          <p:nvPr/>
        </p:nvCxnSpPr>
        <p:spPr>
          <a:xfrm flipV="1">
            <a:off x="13106400" y="7021401"/>
            <a:ext cx="0" cy="11650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E519104-91EA-1E9E-1501-59225EAF8412}"/>
              </a:ext>
            </a:extLst>
          </p:cNvPr>
          <p:cNvCxnSpPr>
            <a:cxnSpLocks/>
          </p:cNvCxnSpPr>
          <p:nvPr/>
        </p:nvCxnSpPr>
        <p:spPr>
          <a:xfrm>
            <a:off x="13106400" y="8568654"/>
            <a:ext cx="0" cy="10141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FA3ECD6B-399B-0F6B-2B85-FDADB122D865}"/>
                  </a:ext>
                </a:extLst>
              </p14:cNvPr>
              <p14:cNvContentPartPr/>
              <p14:nvPr/>
            </p14:nvContentPartPr>
            <p14:xfrm>
              <a:off x="3810000" y="5753100"/>
              <a:ext cx="225910" cy="45719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FA3ECD6B-399B-0F6B-2B85-FDADB122D86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74084" y="-3390700"/>
                <a:ext cx="297382" cy="18287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5C0FF17-0F62-1E89-285A-652C87E90E80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10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8741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CA168-47D4-439D-9E92-25636C9BF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EAD5BCA-1338-66C2-6D2E-22939D767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520CB341-353A-143E-5558-AAC73751C502}"/>
              </a:ext>
            </a:extLst>
          </p:cNvPr>
          <p:cNvSpPr txBox="1"/>
          <p:nvPr/>
        </p:nvSpPr>
        <p:spPr>
          <a:xfrm>
            <a:off x="1327150" y="2933700"/>
            <a:ext cx="15894050" cy="586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1">
              <a:lnSpc>
                <a:spcPct val="200000"/>
              </a:lnSpc>
              <a:defRPr/>
            </a:pPr>
            <a:r>
              <a:rPr kumimoji="0" lang="en-US" altLang="ko-KR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: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일시불 이월 잔액은 우측 꼬리가 긴 분포를 보이며 고객별 편차가 크다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 </a:t>
            </a:r>
          </a:p>
          <a:p>
            <a:pPr lvl="1">
              <a:lnSpc>
                <a:spcPct val="200000"/>
              </a:lnSpc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 상관관계 분석에서는 카드 이용금액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·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이용건수 등 ‘이용 규모’ 변수의 설명력은 제한적인 반면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한도 수준 및 한도 </a:t>
            </a:r>
            <a:r>
              <a:rPr kumimoji="0" lang="ko-KR" altLang="en-US" sz="23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소진율</a:t>
            </a:r>
            <a:r>
              <a:rPr kumimoji="0" lang="ko-KR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관련 변수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가 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lvl="1">
              <a:lnSpc>
                <a:spcPct val="200000"/>
              </a:lnSpc>
              <a:defRPr/>
            </a:pP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상대적으로 더 높은 양의 상관관계를 보였다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  <a:p>
            <a:pPr lvl="1">
              <a:lnSpc>
                <a:spcPct val="200000"/>
              </a:lnSpc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 다만 동일한 한도 </a:t>
            </a:r>
            <a:r>
              <a:rPr kumimoji="0" lang="ko-KR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소진율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수준에서도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잔액의 분산이 크게 나타나 </a:t>
            </a:r>
            <a:r>
              <a:rPr kumimoji="0" lang="ko-KR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단일 변수 기반 해석만으로는 타깃을 충분히 설명하기 어렵다</a:t>
            </a:r>
            <a:r>
              <a:rPr kumimoji="0" lang="en-US" altLang="ko-KR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  <a:endParaRPr lang="en-US" altLang="ko-KR" sz="2300" b="1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 algn="ctr">
              <a:lnSpc>
                <a:spcPct val="150000"/>
              </a:lnSpc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따라서 본 프로젝트에서는 </a:t>
            </a:r>
            <a:r>
              <a:rPr lang="ko-KR" altLang="en-US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한도 구조와 상환</a:t>
            </a:r>
            <a:r>
              <a:rPr lang="en-US" altLang="ko-KR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리스크 행동을 함께 반영한 파생변수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를 설계하고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</a:t>
            </a:r>
          </a:p>
          <a:p>
            <a:pPr lvl="1" algn="ctr">
              <a:lnSpc>
                <a:spcPct val="150000"/>
              </a:lnSpc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여러 변수가 동시에 작용하는 패턴을 학습할 수 있는 </a:t>
            </a:r>
            <a:r>
              <a:rPr lang="ko-KR" altLang="en-US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예측 모델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로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 변동 요인을 종합적으로 설명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예측한다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7DBB011-4D39-D961-D61F-075861AF5CEE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3.3 EDA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결론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5E5EBE6-34ED-8815-4C95-A61C9A24EE94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3.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데이터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Overview &amp; EDA</a:t>
            </a:r>
          </a:p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335EB9-F5D4-C9CB-0582-CEDF856F8877}"/>
              </a:ext>
            </a:extLst>
          </p:cNvPr>
          <p:cNvSpPr/>
          <p:nvPr/>
        </p:nvSpPr>
        <p:spPr>
          <a:xfrm>
            <a:off x="1327150" y="6972300"/>
            <a:ext cx="15792450" cy="1828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83340-94F2-61C7-F1D1-8EEAF43BC430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11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8541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545BB-44EC-8FCC-A962-5A06CBC3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4C663CE-CF66-E945-3B72-E48033F1A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7A711190-2D29-AD4D-79CC-DF56D169C6C9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4.1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한도 소진율을 반영한 </a:t>
            </a:r>
            <a:r>
              <a:rPr kumimoji="0" lang="en-US" altLang="ko-KR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 파생변수 설계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D06D65E-E1DD-B97E-993C-3107F4D042C8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4.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파생변수 설계</a:t>
            </a:r>
            <a:endParaRPr kumimoji="0" lang="en-US" altLang="ko-KR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38CF7B9A-2675-807D-F57C-C8AE641A7E6B}"/>
              </a:ext>
            </a:extLst>
          </p:cNvPr>
          <p:cNvSpPr txBox="1"/>
          <p:nvPr/>
        </p:nvSpPr>
        <p:spPr>
          <a:xfrm>
            <a:off x="1336675" y="2933700"/>
            <a:ext cx="15894050" cy="154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914400" lvl="1" indent="-4572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ko-KR" altLang="en-US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문제 </a:t>
            </a:r>
            <a:r>
              <a:rPr lang="en-US" altLang="ko-KR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(EDA</a:t>
            </a:r>
            <a:r>
              <a:rPr lang="ko-KR" altLang="en-US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인사이트</a:t>
            </a:r>
            <a:r>
              <a:rPr lang="en-US" altLang="ko-KR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)</a:t>
            </a:r>
          </a:p>
          <a:p>
            <a:pPr marL="1257300" lvl="2" indent="-342900">
              <a:lnSpc>
                <a:spcPct val="150000"/>
              </a:lnSpc>
              <a:buFontTx/>
              <a:buChar char="-"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한도 소진율과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잔액은 양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(+)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의 관계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그러나 동일 소진율에서도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 분산이 커 단일 지표로 설명 한계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86FDE6F0-E825-A5D4-A97D-C316190DCBCE}"/>
              </a:ext>
            </a:extLst>
          </p:cNvPr>
          <p:cNvSpPr txBox="1"/>
          <p:nvPr/>
        </p:nvSpPr>
        <p:spPr>
          <a:xfrm>
            <a:off x="1336675" y="4483100"/>
            <a:ext cx="15894050" cy="154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914400" lvl="1" indent="-457200">
              <a:lnSpc>
                <a:spcPct val="200000"/>
              </a:lnSpc>
              <a:buFont typeface="+mj-lt"/>
              <a:buAutoNum type="arabicPeriod" startAt="2"/>
              <a:defRPr/>
            </a:pPr>
            <a:r>
              <a:rPr kumimoji="0" lang="ko-KR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도메인 가설</a:t>
            </a:r>
            <a:endParaRPr kumimoji="0" lang="en-US" altLang="ko-KR" sz="2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lvl="2">
              <a:lnSpc>
                <a:spcPct val="200000"/>
              </a:lnSpc>
              <a:defRPr/>
            </a:pP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- RV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잔액이 크고 동시에 한도 소진율이 높으면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고객의 상환 부담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압박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)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 구조적으로 확대될 수 있다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011B0274-E779-D003-CBDA-37510AC5E912}"/>
              </a:ext>
            </a:extLst>
          </p:cNvPr>
          <p:cNvSpPr txBox="1"/>
          <p:nvPr/>
        </p:nvSpPr>
        <p:spPr>
          <a:xfrm>
            <a:off x="1336675" y="6286500"/>
            <a:ext cx="15894050" cy="154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914400" lvl="1" indent="-457200">
              <a:lnSpc>
                <a:spcPct val="150000"/>
              </a:lnSpc>
              <a:buFont typeface="+mj-lt"/>
              <a:buAutoNum type="arabicPeriod" startAt="3"/>
              <a:defRPr/>
            </a:pPr>
            <a:r>
              <a:rPr kumimoji="0" lang="ko-KR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파생변수 설계</a:t>
            </a:r>
            <a:endParaRPr kumimoji="0" lang="en-US" altLang="ko-KR" sz="2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  <a:defRPr/>
            </a:pP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상환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부담 지표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파생변수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)= RV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×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한도 </a:t>
            </a:r>
            <a:r>
              <a:rPr kumimoji="0" lang="ko-KR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소진율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한도 대비 ‘잔액 </a:t>
            </a:r>
            <a:r>
              <a:rPr kumimoji="0" lang="ko-KR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규모’를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함께 반영해 상대적 부담을 수치화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lvl="2">
              <a:lnSpc>
                <a:spcPct val="150000"/>
              </a:lnSpc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2E273AB-3E04-5321-110A-782B41810FF0}"/>
              </a:ext>
            </a:extLst>
          </p:cNvPr>
          <p:cNvSpPr txBox="1"/>
          <p:nvPr/>
        </p:nvSpPr>
        <p:spPr>
          <a:xfrm>
            <a:off x="1336675" y="8039100"/>
            <a:ext cx="15894050" cy="175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914400" lvl="1" indent="-457200">
              <a:lnSpc>
                <a:spcPct val="200000"/>
              </a:lnSpc>
              <a:buFont typeface="+mj-lt"/>
              <a:buAutoNum type="arabicPeriod" startAt="4"/>
              <a:defRPr/>
            </a:pPr>
            <a:r>
              <a:rPr kumimoji="0" lang="ko-KR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기대효과</a:t>
            </a:r>
            <a:endParaRPr lang="en-US" altLang="ko-KR" sz="2300" b="1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동일한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잔액을 가지고 있더라도 한도 소진율에 따라 고객 구분 가능</a:t>
            </a: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1F2AA8-AA17-E92B-7B6B-A382FC48C483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12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26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1238C-FEE1-5978-C2F3-82F7D9100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75B9205-B3D0-2ACA-091F-7F01270EE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A0F4D949-C2AE-AE78-9F0D-E7356C4AEE71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4.2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파생변수 가설 검정 흐름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3517AE4-EEA1-77A5-BE21-B1569FAB5FE4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4.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파생변수 설계</a:t>
            </a:r>
            <a:endParaRPr kumimoji="0" lang="en-US" altLang="ko-KR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48F6063B-0342-7DAE-8B59-7686EE742C93}"/>
              </a:ext>
            </a:extLst>
          </p:cNvPr>
          <p:cNvSpPr txBox="1"/>
          <p:nvPr/>
        </p:nvSpPr>
        <p:spPr>
          <a:xfrm>
            <a:off x="939800" y="2806700"/>
            <a:ext cx="14833600" cy="726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1" algn="ctr">
              <a:lnSpc>
                <a:spcPct val="200000"/>
              </a:lnSpc>
              <a:defRPr/>
            </a:pPr>
            <a:endParaRPr lang="en-US" altLang="ko-KR" sz="2300" b="1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 algn="ctr">
              <a:lnSpc>
                <a:spcPct val="250000"/>
              </a:lnSpc>
              <a:defRPr/>
            </a:pP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가설 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1 : 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한도 </a:t>
            </a:r>
            <a:r>
              <a:rPr lang="ko-KR" altLang="en-US" sz="2300" b="1" dirty="0" err="1"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 그룹별 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일시불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잔액의 평균 차이 검증</a:t>
            </a:r>
            <a:b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</a:br>
            <a:endParaRPr lang="en-US" altLang="ko-KR" sz="2300" b="1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 algn="ctr">
              <a:lnSpc>
                <a:spcPct val="250000"/>
              </a:lnSpc>
              <a:defRPr/>
            </a:pP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가설 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2 : 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한도 소진율과 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일시불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잔액 간의 관계 파악</a:t>
            </a:r>
            <a:endParaRPr lang="en-US" altLang="ko-KR" sz="2300" b="1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 algn="ctr">
              <a:lnSpc>
                <a:spcPct val="250000"/>
              </a:lnSpc>
              <a:defRPr/>
            </a:pPr>
            <a:b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가설 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3 : 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파생변수와 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일시불 잔액 간의 관계 파악</a:t>
            </a:r>
            <a:endParaRPr lang="en-US" altLang="ko-KR" sz="2300" b="1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A53176D0-6C64-3744-CC79-06E8FF881F6B}"/>
              </a:ext>
            </a:extLst>
          </p:cNvPr>
          <p:cNvSpPr/>
          <p:nvPr/>
        </p:nvSpPr>
        <p:spPr>
          <a:xfrm rot="5400000">
            <a:off x="8353472" y="6616684"/>
            <a:ext cx="609600" cy="254033"/>
          </a:xfrm>
          <a:prstGeom prst="rightArrow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F9EBDD4B-F53D-9844-89D4-EFAB4C20E786}"/>
              </a:ext>
            </a:extLst>
          </p:cNvPr>
          <p:cNvSpPr/>
          <p:nvPr/>
        </p:nvSpPr>
        <p:spPr>
          <a:xfrm rot="5400000">
            <a:off x="8353473" y="4743434"/>
            <a:ext cx="609600" cy="254033"/>
          </a:xfrm>
          <a:prstGeom prst="rightArrow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AB054DA-0D27-D237-8B3F-8CA473FC908A}"/>
              </a:ext>
            </a:extLst>
          </p:cNvPr>
          <p:cNvCxnSpPr>
            <a:cxnSpLocks/>
          </p:cNvCxnSpPr>
          <p:nvPr/>
        </p:nvCxnSpPr>
        <p:spPr>
          <a:xfrm flipH="1">
            <a:off x="10003259" y="6792843"/>
            <a:ext cx="270982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11E0A23-29BB-0A69-FE2A-25A5BFE41251}"/>
              </a:ext>
            </a:extLst>
          </p:cNvPr>
          <p:cNvSpPr txBox="1"/>
          <p:nvPr/>
        </p:nvSpPr>
        <p:spPr>
          <a:xfrm>
            <a:off x="13183374" y="6438900"/>
            <a:ext cx="3936226" cy="7078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문제 인식</a:t>
            </a:r>
            <a:endParaRPr lang="en-US" altLang="ko-KR" sz="20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: 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동일 한도 </a:t>
            </a:r>
            <a:r>
              <a:rPr lang="ko-KR" altLang="en-US" sz="2000" dirty="0" err="1"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 내 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잔액 분산↑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0C1A9FB-A964-8118-C926-A413724DB02E}"/>
              </a:ext>
            </a:extLst>
          </p:cNvPr>
          <p:cNvCxnSpPr>
            <a:cxnSpLocks/>
          </p:cNvCxnSpPr>
          <p:nvPr/>
        </p:nvCxnSpPr>
        <p:spPr>
          <a:xfrm flipH="1">
            <a:off x="10014015" y="4919593"/>
            <a:ext cx="270982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00EC435-2F51-7B29-58D8-19F2EB279602}"/>
              </a:ext>
            </a:extLst>
          </p:cNvPr>
          <p:cNvSpPr txBox="1"/>
          <p:nvPr/>
        </p:nvSpPr>
        <p:spPr>
          <a:xfrm>
            <a:off x="13164324" y="4565650"/>
            <a:ext cx="3936226" cy="7078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차이가 있음을 확인</a:t>
            </a:r>
            <a:endParaRPr lang="en-US" altLang="ko-KR" sz="20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그럼 어떤 관계를 가지고 있는가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?</a:t>
            </a:r>
            <a:endParaRPr lang="ko-KR" altLang="en-US" sz="2000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69099A-943C-1BD8-931B-BA99DCD44AB4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13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9449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1BA607-CF09-5B30-4138-FA919532B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4F87127-53B0-89A8-7CCE-ABAA11FE0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70C1E0B4-8A2F-19F9-2986-B00DC5C3EFB0}"/>
              </a:ext>
            </a:extLst>
          </p:cNvPr>
          <p:cNvSpPr txBox="1"/>
          <p:nvPr/>
        </p:nvSpPr>
        <p:spPr>
          <a:xfrm>
            <a:off x="1327150" y="2933700"/>
            <a:ext cx="15633700" cy="2514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한도 소진율이 높을수록 신용 한도의 여유가 줄어들어 현금 흐름에 압박을 받을 수 있고</a:t>
            </a:r>
            <a:r>
              <a:rPr lang="en-US" altLang="ko-KR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이로 인한 </a:t>
            </a:r>
            <a:r>
              <a:rPr lang="en-US" altLang="ko-KR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이용 가능성이 커질 수 있다</a:t>
            </a:r>
            <a:r>
              <a:rPr lang="en-US" altLang="ko-KR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그래서 한도 소진율을 저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/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중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/</a:t>
            </a:r>
            <a:r>
              <a:rPr kumimoji="0" lang="ko-KR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고소진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 그룹으로 나누고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각 그룹별 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잔액의 평균을 비교하여 차이가 있는지 통계적으로 확인하고자 한다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ko-KR" altLang="en-US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한도 </a:t>
            </a:r>
            <a:r>
              <a:rPr lang="ko-KR" altLang="en-US" sz="22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기준 </a:t>
            </a:r>
            <a:endParaRPr kumimoji="0" lang="en-US" altLang="ko-KR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>
              <a:lnSpc>
                <a:spcPct val="200000"/>
              </a:lnSpc>
            </a:pP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                         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&lt;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kumimoji="0" lang="ko-KR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저소진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 그룹 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: </a:t>
            </a:r>
            <a:r>
              <a:rPr lang="en-US" altLang="ko-KR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50% </a:t>
            </a:r>
            <a:r>
              <a:rPr lang="ko-KR" altLang="en-US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이하 그룹</a:t>
            </a:r>
            <a:r>
              <a:rPr lang="en-US" altLang="ko-KR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          </a:t>
            </a:r>
            <a:r>
              <a:rPr lang="ko-KR" altLang="en-US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중간소진 그룹 </a:t>
            </a:r>
            <a:r>
              <a:rPr lang="en-US" altLang="ko-KR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: 50 ~ 70% </a:t>
            </a:r>
            <a:r>
              <a:rPr lang="ko-KR" altLang="en-US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이하인 그룹</a:t>
            </a:r>
            <a:r>
              <a:rPr lang="en-US" altLang="ko-KR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          </a:t>
            </a:r>
            <a:r>
              <a:rPr lang="ko-KR" altLang="en-US" sz="22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고소진</a:t>
            </a:r>
            <a:r>
              <a:rPr lang="ko-KR" altLang="en-US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그룹 </a:t>
            </a:r>
            <a:r>
              <a:rPr lang="en-US" altLang="ko-KR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: 70% </a:t>
            </a:r>
            <a:r>
              <a:rPr lang="ko-KR" altLang="en-US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초과인 그룹 </a:t>
            </a:r>
            <a:r>
              <a:rPr lang="en-US" altLang="ko-KR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&gt;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07A891C-0F88-2049-1FEF-6A4BC58D7613}"/>
              </a:ext>
            </a:extLst>
          </p:cNvPr>
          <p:cNvSpPr txBox="1"/>
          <p:nvPr/>
        </p:nvSpPr>
        <p:spPr>
          <a:xfrm>
            <a:off x="939800" y="2146300"/>
            <a:ext cx="2095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가설 내용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A167DCF5-7B09-5945-7EC9-B7CE6EE0FF18}"/>
              </a:ext>
            </a:extLst>
          </p:cNvPr>
          <p:cNvSpPr txBox="1"/>
          <p:nvPr/>
        </p:nvSpPr>
        <p:spPr>
          <a:xfrm>
            <a:off x="939800" y="723900"/>
            <a:ext cx="12776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가설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1.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한도 </a:t>
            </a:r>
            <a:r>
              <a:rPr kumimoji="0" lang="ko-KR" altLang="en-US" sz="4500" b="1" i="0" u="none" strike="noStrike" kern="1200" cap="none" spc="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 그룹 별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잔액의 평균 차이 </a:t>
            </a:r>
            <a:r>
              <a:rPr lang="ko-KR" altLang="en-US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검증</a:t>
            </a: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FC31878-63C0-68B4-F407-7AE8DBAC9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73650" y="5746921"/>
            <a:ext cx="5884700" cy="420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364C5B-B2EB-B51E-3AD7-F9D3299CC84E}"/>
              </a:ext>
            </a:extLst>
          </p:cNvPr>
          <p:cNvSpPr txBox="1"/>
          <p:nvPr/>
        </p:nvSpPr>
        <p:spPr>
          <a:xfrm>
            <a:off x="1327150" y="5219700"/>
            <a:ext cx="9067800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latin typeface="NanumBarunGothic" panose="020B0600000101010101" charset="-127"/>
                <a:ea typeface="NanumBarunGothic" panose="020B0600000101010101" charset="-127"/>
              </a:rPr>
              <a:t>구분기준</a:t>
            </a:r>
            <a:endParaRPr lang="en-US" altLang="ko-KR" sz="2500" b="1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한도 </a:t>
            </a:r>
            <a:r>
              <a:rPr lang="ko-KR" altLang="en-US" sz="2200" dirty="0" err="1"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50% 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이하 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= ‘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내가 가진 한도의 절반 이하를 소비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’. 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일반적으로 상황 여력 충분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 = ‘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안정 구간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’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으로 판단</a:t>
            </a:r>
            <a:endParaRPr lang="en-US" altLang="ko-KR" sz="22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한도 </a:t>
            </a:r>
            <a:r>
              <a:rPr lang="ko-KR" altLang="en-US" sz="2200" dirty="0" err="1"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70% 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초과 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= ‘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내가 가진 한도의 대부분을 소비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’.  </a:t>
            </a:r>
          </a:p>
          <a:p>
            <a:pPr lvl="2">
              <a:lnSpc>
                <a:spcPct val="150000"/>
              </a:lnSpc>
            </a:pP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+ 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오른쪽의 그림을 보면 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70~80%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에서 최댓값을 가짐 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= 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해당 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%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까지는</a:t>
            </a:r>
            <a:endParaRPr lang="en-US" altLang="ko-KR" sz="22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2">
              <a:lnSpc>
                <a:spcPct val="200000"/>
              </a:lnSpc>
            </a:pP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   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괜찮다고 생각하는 사람多 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= </a:t>
            </a:r>
            <a:r>
              <a:rPr lang="ko-KR" altLang="en-US" sz="2200" dirty="0" err="1">
                <a:latin typeface="NanumBarunGothic" panose="020B0600000101010101" charset="-127"/>
                <a:ea typeface="NanumBarunGothic" panose="020B0600000101010101" charset="-127"/>
              </a:rPr>
              <a:t>위험군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&amp;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‘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경고 구간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’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으로 판단</a:t>
            </a:r>
            <a:endParaRPr lang="en-US" altLang="ko-KR" sz="22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한도 </a:t>
            </a:r>
            <a:r>
              <a:rPr lang="ko-KR" altLang="en-US" sz="2200" dirty="0" err="1"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50~70% = ‘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관찰 구간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＇</a:t>
            </a:r>
          </a:p>
          <a:p>
            <a:pPr lvl="1"/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E7BBFEE-1D6E-962B-2CA9-DFDD83C5A720}"/>
              </a:ext>
            </a:extLst>
          </p:cNvPr>
          <p:cNvCxnSpPr>
            <a:cxnSpLocks/>
          </p:cNvCxnSpPr>
          <p:nvPr/>
        </p:nvCxnSpPr>
        <p:spPr>
          <a:xfrm flipV="1">
            <a:off x="15011400" y="6072157"/>
            <a:ext cx="0" cy="333854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1E18B2D-2CCE-960E-2FD3-DBFC7599ED1A}"/>
              </a:ext>
            </a:extLst>
          </p:cNvPr>
          <p:cNvCxnSpPr>
            <a:cxnSpLocks/>
          </p:cNvCxnSpPr>
          <p:nvPr/>
        </p:nvCxnSpPr>
        <p:spPr>
          <a:xfrm flipV="1">
            <a:off x="14097000" y="6072157"/>
            <a:ext cx="0" cy="333854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77D379FB-7302-77AE-6932-B3DE361B13E3}"/>
              </a:ext>
            </a:extLst>
          </p:cNvPr>
          <p:cNvSpPr/>
          <p:nvPr/>
        </p:nvSpPr>
        <p:spPr>
          <a:xfrm>
            <a:off x="14935200" y="6081682"/>
            <a:ext cx="838197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B53C30-55B5-E0E7-83FC-26F00913FFD3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14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5553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B44FD-DC13-BB7B-F202-35C544CD1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40D1A1E-2434-6E31-8E0B-B327BFBC9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7003C254-DE4D-7759-4524-A3AC32F82733}"/>
              </a:ext>
            </a:extLst>
          </p:cNvPr>
          <p:cNvSpPr txBox="1"/>
          <p:nvPr/>
        </p:nvSpPr>
        <p:spPr>
          <a:xfrm>
            <a:off x="1327150" y="2698750"/>
            <a:ext cx="156337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각 집단의 평균을 계산해서 세 집단의 평균값의 차이가 유의미하게 있는지 확인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( ANOVA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이용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 )</a:t>
            </a:r>
            <a:endParaRPr lang="ko-KR" altLang="en-US" sz="2300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99DA53F-5923-9D73-0ECF-685E345829E2}"/>
              </a:ext>
            </a:extLst>
          </p:cNvPr>
          <p:cNvSpPr txBox="1"/>
          <p:nvPr/>
        </p:nvSpPr>
        <p:spPr>
          <a:xfrm>
            <a:off x="939800" y="2143202"/>
            <a:ext cx="2095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검증 방법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BA79F24-C8D4-2368-9678-A9B32B7E5EE0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가설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1.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한도 </a:t>
            </a:r>
            <a:r>
              <a:rPr kumimoji="0" lang="ko-KR" altLang="en-US" sz="4500" b="1" i="0" u="none" strike="noStrike" kern="1200" cap="none" spc="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소진율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 그룹 별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RV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잔액의 평균 차이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E45C748-1229-0C61-EC44-0BDDBDDC8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665981"/>
              </p:ext>
            </p:extLst>
          </p:nvPr>
        </p:nvGraphicFramePr>
        <p:xfrm>
          <a:off x="1849514" y="5881494"/>
          <a:ext cx="8513688" cy="3289300"/>
        </p:xfrm>
        <a:graphic>
          <a:graphicData uri="http://schemas.openxmlformats.org/drawingml/2006/table">
            <a:tbl>
              <a:tblPr/>
              <a:tblGrid>
                <a:gridCol w="2128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8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8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84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Util_group</a:t>
                      </a:r>
                      <a:endParaRPr lang="en-US" sz="20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Count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Mean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Median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1" i="0" u="none" strike="noStrike" dirty="0" err="1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저소진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(≤50%) 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34,831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1,093,416.63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1,078,508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중간소진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(50~70%)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24,623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1,340,942.40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1,353,316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1" i="0" u="none" strike="noStrike" dirty="0" err="1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고소진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(&gt;70%)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23,949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1,495,767.89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1,501,818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7">
            <a:extLst>
              <a:ext uri="{FF2B5EF4-FFF2-40B4-BE49-F238E27FC236}">
                <a16:creationId xmlns:a16="http://schemas.microsoft.com/office/drawing/2014/main" id="{58FC4292-6165-065D-0891-FF4B2B583927}"/>
              </a:ext>
            </a:extLst>
          </p:cNvPr>
          <p:cNvSpPr txBox="1"/>
          <p:nvPr/>
        </p:nvSpPr>
        <p:spPr>
          <a:xfrm>
            <a:off x="939800" y="3760440"/>
            <a:ext cx="2095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결과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F41D5D95-4B47-B196-86C2-9771CB029BC4}"/>
              </a:ext>
            </a:extLst>
          </p:cNvPr>
          <p:cNvSpPr txBox="1"/>
          <p:nvPr/>
        </p:nvSpPr>
        <p:spPr>
          <a:xfrm>
            <a:off x="1327150" y="4211444"/>
            <a:ext cx="15792450" cy="153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ANOVA </a:t>
            </a:r>
            <a:r>
              <a:rPr lang="en-US" altLang="ko-KR" sz="2000" dirty="0" err="1">
                <a:latin typeface="NanumBarunGothic" panose="020B0600000101010101" charset="-127"/>
                <a:ea typeface="NanumBarunGothic" panose="020B0600000101010101" charset="-127"/>
              </a:rPr>
              <a:t>F_stat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 :   8428.774796402122,      </a:t>
            </a:r>
            <a:r>
              <a:rPr lang="en-US" altLang="ko-KR" sz="2000" dirty="0" err="1">
                <a:latin typeface="NanumBarunGothic" panose="020B0600000101010101" charset="-127"/>
                <a:ea typeface="NanumBarunGothic" panose="020B0600000101010101" charset="-127"/>
              </a:rPr>
              <a:t>p_value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 : 0.0</a:t>
            </a:r>
          </a:p>
          <a:p>
            <a:pPr marL="800100" lvl="1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ANOVA 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결과 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p-value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가 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0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에 근접하므로 유의수준 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0.05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에서 귀무가설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세 집단의 평균이 동일하다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)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를 기각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 즉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적어도 한 그룹의 평균은 다르다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endParaRPr lang="ko-KR" altLang="en-US" sz="2000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F0409B4-8CE6-AF52-D700-3F41CAD719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62347" y="5886153"/>
            <a:ext cx="6227686" cy="4133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7F75BE-9992-DEC4-F363-78F91D75B30C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15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6164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B8975-5FA8-DF69-1F77-7CEEEC2FA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170F02D-F2BB-08B2-47A1-C59ACF0B4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DC7A375C-9464-1B0F-63FC-6DEF70E4D951}"/>
              </a:ext>
            </a:extLst>
          </p:cNvPr>
          <p:cNvSpPr txBox="1"/>
          <p:nvPr/>
        </p:nvSpPr>
        <p:spPr>
          <a:xfrm>
            <a:off x="1291837" y="3563122"/>
            <a:ext cx="15633700" cy="145337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가설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1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에서 적어도 한 그룹은 다르다는 것을 확인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 </a:t>
            </a:r>
          </a:p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그렇다면 한도 소진율이 커질수록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잔액이 커지는 관계를 가지고 있나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?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E3F31F-AA65-8ECA-22D9-049E250C26FB}"/>
              </a:ext>
            </a:extLst>
          </p:cNvPr>
          <p:cNvSpPr txBox="1"/>
          <p:nvPr/>
        </p:nvSpPr>
        <p:spPr>
          <a:xfrm>
            <a:off x="906346" y="2552700"/>
            <a:ext cx="2095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가설 내용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507CE2C-217E-1350-1C70-803357D171AA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가설 </a:t>
            </a:r>
            <a:r>
              <a:rPr lang="en-US" altLang="ko-KR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2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한도 소진율과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잔액 </a:t>
            </a:r>
            <a:r>
              <a:rPr lang="ko-KR" altLang="en-US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간의 관계</a:t>
            </a: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531CE71C-6FEE-AF81-9066-FC7D1B738FAF}"/>
              </a:ext>
            </a:extLst>
          </p:cNvPr>
          <p:cNvSpPr txBox="1"/>
          <p:nvPr/>
        </p:nvSpPr>
        <p:spPr>
          <a:xfrm>
            <a:off x="1325291" y="6906788"/>
            <a:ext cx="15633700" cy="152136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한도 소진율과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잔액 간의 상관분석을 진행</a:t>
            </a:r>
            <a:endParaRPr lang="en-US" altLang="ko-KR" sz="23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Pearson :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가설의 관계가 선형적인가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?  Spearman :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증가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/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감소 방향 확인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CD636419-C6CB-3388-55F4-DDE4F39D59B5}"/>
              </a:ext>
            </a:extLst>
          </p:cNvPr>
          <p:cNvSpPr txBox="1"/>
          <p:nvPr/>
        </p:nvSpPr>
        <p:spPr>
          <a:xfrm>
            <a:off x="939800" y="5970240"/>
            <a:ext cx="2095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검증 방법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01C018-E4BC-45DC-8F80-C06D3DD2AC5D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16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2424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8C4701-2B62-D523-2A55-6639033A6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A6214B8-E863-200D-6001-3654A360D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C97E89A2-2092-8B5A-B7DD-F19F8226518E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02089"/>
              </a:lnSpc>
              <a:defRPr/>
            </a:pPr>
            <a:r>
              <a:rPr lang="ko-KR" altLang="en-US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가설 </a:t>
            </a:r>
            <a:r>
              <a:rPr lang="en-US" altLang="ko-KR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2. </a:t>
            </a:r>
            <a:r>
              <a:rPr lang="ko-KR" altLang="en-US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한도 </a:t>
            </a:r>
            <a:r>
              <a:rPr lang="ko-KR" altLang="en-US" sz="4500" b="1" spc="1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-</a:t>
            </a:r>
            <a:r>
              <a:rPr lang="ko-KR" altLang="en-US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 간의 관계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5929409C-8EA4-CD85-06BE-B040FA412440}"/>
              </a:ext>
            </a:extLst>
          </p:cNvPr>
          <p:cNvSpPr txBox="1"/>
          <p:nvPr/>
        </p:nvSpPr>
        <p:spPr>
          <a:xfrm>
            <a:off x="939800" y="2509722"/>
            <a:ext cx="2095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8A710998-57B5-331B-9514-29D2B55BDF2C}"/>
              </a:ext>
            </a:extLst>
          </p:cNvPr>
          <p:cNvSpPr txBox="1"/>
          <p:nvPr/>
        </p:nvSpPr>
        <p:spPr>
          <a:xfrm>
            <a:off x="1327151" y="2960726"/>
            <a:ext cx="8426449" cy="63483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Pearson r =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0.4573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 Spearman ρ =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0.4494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abs_corr_threshold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=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0.0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</a:p>
          <a:p>
            <a:pPr lvl="1">
              <a:lnSpc>
                <a:spcPct val="250000"/>
              </a:lnSpc>
            </a:pP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Pearson , Spearman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p-value  =  </a:t>
            </a:r>
            <a:r>
              <a:rPr lang="en-US" altLang="ko-KR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0.0</a:t>
            </a:r>
          </a:p>
          <a:p>
            <a:pPr marL="800100" lvl="1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Pearson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과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Spearman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의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p-value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가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에 근접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하므로 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lvl="2">
              <a:lnSpc>
                <a:spcPct val="250000"/>
              </a:lnSpc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유의수준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0.05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에서 귀무가설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상관계수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=0)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을 기각</a:t>
            </a:r>
          </a:p>
          <a:p>
            <a:pPr marL="800100" lvl="1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즉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두 변수 간의 상관계수는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 아니다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 </a:t>
            </a:r>
          </a:p>
          <a:p>
            <a:pPr lvl="2">
              <a:lnSpc>
                <a:spcPct val="250000"/>
              </a:lnSpc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두 변수 모두 약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0.4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의 값을 가지므로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‘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중간 정도의 양의 상관관계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’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를 가진다고 볼 수 있다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pic>
        <p:nvPicPr>
          <p:cNvPr id="11" name="그림 10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1835CD-BAA4-33BC-734B-DDF945CCD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3170122"/>
            <a:ext cx="8048045" cy="5535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D35E69-8827-4CB2-C91D-A22D217B3AFE}"/>
              </a:ext>
            </a:extLst>
          </p:cNvPr>
          <p:cNvSpPr txBox="1"/>
          <p:nvPr/>
        </p:nvSpPr>
        <p:spPr>
          <a:xfrm flipH="1">
            <a:off x="10847772" y="9193768"/>
            <a:ext cx="652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동일한 한도 소진율에서 </a:t>
            </a:r>
            <a:r>
              <a:rPr lang="en-US" altLang="ko-KR" dirty="0"/>
              <a:t>RV</a:t>
            </a:r>
            <a:r>
              <a:rPr lang="ko-KR" altLang="en-US" dirty="0"/>
              <a:t>잔액의 산포도가 큰 것을 알 수 있음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1FCFD7A-A7EF-523D-7C12-A6E0C292805D}"/>
              </a:ext>
            </a:extLst>
          </p:cNvPr>
          <p:cNvCxnSpPr>
            <a:cxnSpLocks/>
          </p:cNvCxnSpPr>
          <p:nvPr/>
        </p:nvCxnSpPr>
        <p:spPr>
          <a:xfrm flipV="1">
            <a:off x="16002000" y="5143500"/>
            <a:ext cx="0" cy="13174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F18EF2D4-56A2-59A2-290C-0382994ECEF6}"/>
              </a:ext>
            </a:extLst>
          </p:cNvPr>
          <p:cNvCxnSpPr>
            <a:cxnSpLocks/>
          </p:cNvCxnSpPr>
          <p:nvPr/>
        </p:nvCxnSpPr>
        <p:spPr>
          <a:xfrm>
            <a:off x="16002000" y="6843153"/>
            <a:ext cx="0" cy="11197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32B846B-F941-F5D6-6B6D-8B76E4A1D0FF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17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424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F0AF3-FE66-DE9A-C676-0D83EFB66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C722F97-3ECC-B371-A5CB-0B3799504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B9682288-293B-4679-6539-7BE758125A02}"/>
              </a:ext>
            </a:extLst>
          </p:cNvPr>
          <p:cNvSpPr txBox="1"/>
          <p:nvPr/>
        </p:nvSpPr>
        <p:spPr>
          <a:xfrm>
            <a:off x="939800" y="723900"/>
            <a:ext cx="125476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가설 </a:t>
            </a:r>
            <a:r>
              <a:rPr lang="en-US" altLang="ko-KR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3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. </a:t>
            </a:r>
            <a:r>
              <a:rPr lang="ko-KR" altLang="en-US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파생 변수와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잔액 간의 관계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9DEDD4B9-282E-5FB6-269A-54F31E5730F8}"/>
              </a:ext>
            </a:extLst>
          </p:cNvPr>
          <p:cNvSpPr txBox="1"/>
          <p:nvPr/>
        </p:nvSpPr>
        <p:spPr>
          <a:xfrm>
            <a:off x="939800" y="2019300"/>
            <a:ext cx="16891000" cy="472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아래에 있는 표에서 수치로도 확인할 수 있듯이 </a:t>
            </a:r>
            <a:r>
              <a:rPr lang="ko-KR" altLang="en-US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표준편차가 큰 값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으로 나타나고 있다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한도 소진율이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잔액의 방향성은 설명하나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동일한 한도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소진율일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때 고객들의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금액 차이를 설명하지 못한다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그래서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'RV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x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한도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소진율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'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이라는 파생 변수를 생성했다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  <a:p>
            <a:pPr marL="800100" lvl="1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파생 변수를 통해 고객의 한도 소진율을 기준으로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잔액의 상대적인 규모를 파악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</a:p>
          <a:p>
            <a:pPr lvl="1">
              <a:lnSpc>
                <a:spcPct val="250000"/>
              </a:lnSpc>
            </a:pP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	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→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파생변수를 통해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위험 노출의 상대적 크기를 명확히 표현할 수 있다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</a:p>
          <a:p>
            <a:pPr lvl="1">
              <a:lnSpc>
                <a:spcPct val="250000"/>
              </a:lnSpc>
            </a:pP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(ex. </a:t>
            </a:r>
            <a:r>
              <a:rPr lang="ko-KR" altLang="en-US" sz="20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한도소진율이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0.2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이고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잔액이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100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만원인 고객과 </a:t>
            </a:r>
            <a:r>
              <a:rPr lang="ko-KR" altLang="en-US" sz="20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한도소진율이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0.5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이지만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잔액이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40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만원인 고객의 상대적 규모는 동일하다고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볼 수 있다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044DB645-B53D-A836-7C96-FE31A441E9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951338"/>
              </p:ext>
            </p:extLst>
          </p:nvPr>
        </p:nvGraphicFramePr>
        <p:xfrm>
          <a:off x="2362200" y="6729761"/>
          <a:ext cx="8204200" cy="3366740"/>
        </p:xfrm>
        <a:graphic>
          <a:graphicData uri="http://schemas.openxmlformats.org/drawingml/2006/table">
            <a:tbl>
              <a:tblPr/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168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Util_group</a:t>
                      </a:r>
                      <a:endParaRPr lang="en-US" sz="20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Count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Mean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Std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68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저소진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(≤50%) 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34,831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1,093,416.63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 dirty="0">
                          <a:effectLst/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322,724.43</a:t>
                      </a:r>
                    </a:p>
                  </a:txBody>
                  <a:tcPr marL="76200" marR="76200" marT="38100" marB="3810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68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중간소진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(50~80%)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40411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1,393,797.35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000" b="0" i="0" kern="1200" dirty="0">
                          <a:solidFill>
                            <a:schemeClr val="tx1"/>
                          </a:solidFill>
                          <a:effectLst/>
                          <a:latin typeface="NanumBarunGothic" panose="020B0600000101010101" charset="-127"/>
                          <a:ea typeface="NanumBarunGothic" panose="020B0600000101010101" charset="-127"/>
                          <a:cs typeface="+mn-cs"/>
                        </a:rPr>
                        <a:t>409,327.30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68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고소진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(&gt;80%)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8161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1,533,565.14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459,920.14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CE1336-CDF2-8862-E5CD-681F5524E70A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18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285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F141BB-A5A8-3355-7A2A-23B4FE56F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7E3E514-75E3-18CD-0CB7-4351B3917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7AC147FD-FA1B-10A1-E7C9-C2E70229B2E6}"/>
              </a:ext>
            </a:extLst>
          </p:cNvPr>
          <p:cNvSpPr txBox="1"/>
          <p:nvPr/>
        </p:nvSpPr>
        <p:spPr>
          <a:xfrm>
            <a:off x="939800" y="723900"/>
            <a:ext cx="125476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02089"/>
              </a:lnSpc>
            </a:pP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가설 </a:t>
            </a:r>
            <a:r>
              <a:rPr lang="en-US" altLang="ko-KR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3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. </a:t>
            </a:r>
            <a:r>
              <a:rPr lang="ko-KR" altLang="en-US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파생 변수와 </a:t>
            </a:r>
            <a:r>
              <a:rPr lang="en-US" altLang="ko-KR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 간의 관계</a:t>
            </a: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9BA8BA27-908D-B79D-2710-868DCCC7240C}"/>
              </a:ext>
            </a:extLst>
          </p:cNvPr>
          <p:cNvSpPr txBox="1"/>
          <p:nvPr/>
        </p:nvSpPr>
        <p:spPr>
          <a:xfrm>
            <a:off x="939800" y="2509722"/>
            <a:ext cx="2095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39C4CF5-5593-49F5-8657-F7B93F631750}"/>
              </a:ext>
            </a:extLst>
          </p:cNvPr>
          <p:cNvSpPr txBox="1"/>
          <p:nvPr/>
        </p:nvSpPr>
        <p:spPr>
          <a:xfrm>
            <a:off x="1327151" y="2960726"/>
            <a:ext cx="15792449" cy="24367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Pearson r =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0.8277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 Spearman ρ =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0.8011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abs_corr_threshold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=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0.0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</a:p>
          <a:p>
            <a:pPr lvl="1">
              <a:lnSpc>
                <a:spcPct val="250000"/>
              </a:lnSpc>
            </a:pP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Pearson , Spearman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p-value  =  </a:t>
            </a:r>
            <a:r>
              <a:rPr lang="en-US" altLang="ko-KR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0.0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가설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2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와 동일하게 두 변수 간의 상관계수는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0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 아니며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두 변수 모두 약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0.8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의 값을 가지므로 </a:t>
            </a:r>
            <a:r>
              <a:rPr lang="en-US" altLang="ko-KR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“</a:t>
            </a:r>
            <a:r>
              <a:rPr lang="ko-KR" altLang="en-US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강한 양의 상관관계</a:t>
            </a:r>
            <a:r>
              <a:rPr lang="en-US" altLang="ko-KR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”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가진다고 볼 수 있다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endParaRPr lang="en-US" altLang="ko-KR" sz="20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pic>
        <p:nvPicPr>
          <p:cNvPr id="8" name="그림 7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3AAB00-38C8-141E-C73E-C83C92B9B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397500"/>
            <a:ext cx="6755179" cy="44807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" name="그림 8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08360E-778A-66C0-548F-A01646290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5079" y="5397500"/>
            <a:ext cx="6513843" cy="4480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88F4BE-CD59-7BCF-16E0-0E1A304A3D8D}"/>
              </a:ext>
            </a:extLst>
          </p:cNvPr>
          <p:cNvSpPr txBox="1"/>
          <p:nvPr/>
        </p:nvSpPr>
        <p:spPr>
          <a:xfrm>
            <a:off x="2084021" y="546285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가설</a:t>
            </a:r>
            <a:r>
              <a:rPr lang="en-US" altLang="ko-KR" dirty="0">
                <a:highlight>
                  <a:srgbClr val="FFFF00"/>
                </a:highlight>
              </a:rPr>
              <a:t>2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0DD037-FF26-8A2E-311D-92669DACDC3E}"/>
              </a:ext>
            </a:extLst>
          </p:cNvPr>
          <p:cNvSpPr txBox="1"/>
          <p:nvPr/>
        </p:nvSpPr>
        <p:spPr>
          <a:xfrm>
            <a:off x="8658922" y="546285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가설</a:t>
            </a:r>
            <a:r>
              <a:rPr lang="en-US" altLang="ko-KR" dirty="0">
                <a:highlight>
                  <a:srgbClr val="FFFF00"/>
                </a:highlight>
              </a:rPr>
              <a:t>3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483E62-C010-2147-8491-0B388A23CA95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19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061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A2275-94F5-E230-386F-80ADDEC0C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595E963-29F3-4BE0-07D3-540623DF1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08D71E74-6AB4-D2A5-8704-F70254608ABC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5.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변수 선택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8F5C971D-8F16-905E-43EA-E0F181C8D239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5.1</a:t>
            </a: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변수 선택 전략 </a:t>
            </a:r>
            <a:r>
              <a:rPr lang="en-US" altLang="ko-KR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_ EDA </a:t>
            </a: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인사이트를 모델 검증으로 확장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4C7E8FC5-223E-F9D0-9D5D-CFB7AF962631}"/>
              </a:ext>
            </a:extLst>
          </p:cNvPr>
          <p:cNvSpPr txBox="1"/>
          <p:nvPr/>
        </p:nvSpPr>
        <p:spPr>
          <a:xfrm>
            <a:off x="1327151" y="2950426"/>
            <a:ext cx="15792449" cy="69682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앞선 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EDA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에서 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잔액과의 관계가 비교적 뚜렷했던 </a:t>
            </a:r>
            <a:r>
              <a:rPr lang="ko-KR" altLang="en-US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한도</a:t>
            </a:r>
            <a:r>
              <a:rPr lang="en-US" altLang="ko-KR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상환 관련 변수를 중심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으로 주요 후보 변수를 정리했다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다만 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EDA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는 </a:t>
            </a:r>
            <a:r>
              <a:rPr lang="ko-KR" altLang="en-US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상관관계와 분포 중심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이므로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실제 예측에서는 중요도가 달라질 수 있어 </a:t>
            </a:r>
            <a:r>
              <a:rPr lang="ko-KR" altLang="en-US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 기반 중요도 분석으로 교차 검증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 필요했다</a:t>
            </a:r>
            <a:endParaRPr lang="en-US" altLang="ko-KR" sz="24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따라서 본 섹션에서는 </a:t>
            </a:r>
            <a:r>
              <a:rPr lang="en-US" altLang="ko-KR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(1) EBM Feature Importance</a:t>
            </a:r>
            <a:r>
              <a:rPr lang="ko-KR" altLang="en-US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로 </a:t>
            </a:r>
            <a:r>
              <a:rPr lang="en-US" altLang="ko-KR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1</a:t>
            </a:r>
            <a:r>
              <a:rPr lang="ko-KR" altLang="en-US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차 검증 → </a:t>
            </a:r>
            <a:r>
              <a:rPr lang="en-US" altLang="ko-KR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(2) Boruta</a:t>
            </a:r>
            <a:r>
              <a:rPr lang="ko-KR" altLang="en-US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로 일관된 핵심 변수만 선별 → </a:t>
            </a:r>
            <a:r>
              <a:rPr lang="en-US" altLang="ko-KR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(3) </a:t>
            </a:r>
            <a:r>
              <a:rPr lang="ko-KR" altLang="en-US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변수 축소 전후 성능 비교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통해 최종 입력 변수를 확정한다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4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400" b="1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 algn="ctr">
              <a:lnSpc>
                <a:spcPct val="200000"/>
              </a:lnSpc>
              <a:defRPr/>
            </a:pPr>
            <a:r>
              <a:rPr lang="ko-KR" altLang="en-US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“</a:t>
            </a:r>
            <a:r>
              <a:rPr lang="en-US" altLang="ko-KR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EDA </a:t>
            </a:r>
            <a:r>
              <a:rPr lang="ko-KR" altLang="en-US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인사이트를 ‘예측 기여도’ 관점에서 재검증해</a:t>
            </a:r>
            <a:r>
              <a:rPr lang="en-US" altLang="ko-KR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성능을 유지하면서도 해석</a:t>
            </a:r>
            <a:r>
              <a:rPr lang="en-US" altLang="ko-KR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운영이 가능한 최소 변수 집합을 찾는다</a:t>
            </a:r>
            <a:r>
              <a:rPr lang="en-US" altLang="ko-KR" sz="24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76B7AA-A5BC-D5AF-22C3-CBC8A6723EC2}"/>
              </a:ext>
            </a:extLst>
          </p:cNvPr>
          <p:cNvSpPr/>
          <p:nvPr/>
        </p:nvSpPr>
        <p:spPr>
          <a:xfrm>
            <a:off x="1327150" y="7672968"/>
            <a:ext cx="15792450" cy="16974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19C37-3C79-2002-AB57-1E52D6791DE1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20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454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3AE07-5643-CC75-DE4F-3613A06B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1CEB00C-BBC6-1FB2-AB1C-CDF3DF074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9396A7F7-7049-2C07-DD2A-B21F108F6B8A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5.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변수 선택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C2AB2167-B7B9-E27B-640D-9F2E55E6F43F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5.2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en-US" altLang="ko-KR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Feature Importance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결과와 </a:t>
            </a:r>
            <a:r>
              <a:rPr kumimoji="0" lang="en-US" altLang="ko-KR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EDA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판단의 차이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F1035DD8-D675-22B4-92B7-12A50AAF4122}"/>
              </a:ext>
            </a:extLst>
          </p:cNvPr>
          <p:cNvSpPr txBox="1"/>
          <p:nvPr/>
        </p:nvSpPr>
        <p:spPr>
          <a:xfrm>
            <a:off x="1327151" y="2950426"/>
            <a:ext cx="15792449" cy="69682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EDA</a:t>
            </a: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통해 </a:t>
            </a:r>
            <a:r>
              <a:rPr lang="en-US" altLang="ko-KR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잔액과의 관계가 뚜렷해 보였던 변수들을 중심으로</a:t>
            </a:r>
            <a:r>
              <a:rPr lang="en-US" altLang="ko-KR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해당 변수들이 실제 </a:t>
            </a: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예측 모델에서도 중요한 역할을 하는지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확인하기 위해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EBM(Explainable Boosting Regressor)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을 활용한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Feature Importance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분석을 먼저 수행하였다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분석 결과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EDA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단계에서 중요하다고 판단했던 일부 변수들은 모델 관점에서는 상대적으로 낮은 중요도를 보였으며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반대로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EDA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에서는 두드러지지 않았던 일부 변수들이 예측 과정에서 더 큰 기여를 하는 경우도 확인되었다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EDA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는 ‘</a:t>
            </a:r>
            <a:r>
              <a:rPr lang="ko-KR" altLang="en-US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단변량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관찰’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importance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는 ‘</a:t>
            </a:r>
            <a:r>
              <a:rPr lang="ko-KR" altLang="en-US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다변량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예측 </a:t>
            </a:r>
            <a:r>
              <a:rPr lang="ko-KR" altLang="en-US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기여도’이므로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결과 불일치는 자연스럽다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</a:p>
          <a:p>
            <a:pPr lvl="0">
              <a:lnSpc>
                <a:spcPct val="200000"/>
              </a:lnSpc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  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따라서 두 관점을 교차 검증하여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feature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후보를 선정하였다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DE1AEAF0-A79D-DA25-77C2-A6F766507D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7037182"/>
                  </p:ext>
                </p:extLst>
              </p:nvPr>
            </p:nvGraphicFramePr>
            <p:xfrm>
              <a:off x="10952881" y="5067300"/>
              <a:ext cx="6007968" cy="19491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003984">
                      <a:extLst>
                        <a:ext uri="{9D8B030D-6E8A-4147-A177-3AD203B41FA5}">
                          <a16:colId xmlns:a16="http://schemas.microsoft.com/office/drawing/2014/main" val="430796066"/>
                        </a:ext>
                      </a:extLst>
                    </a:gridCol>
                    <a:gridCol w="3003984">
                      <a:extLst>
                        <a:ext uri="{9D8B030D-6E8A-4147-A177-3AD203B41FA5}">
                          <a16:colId xmlns:a16="http://schemas.microsoft.com/office/drawing/2014/main" val="3261049376"/>
                        </a:ext>
                      </a:extLst>
                    </a:gridCol>
                  </a:tblGrid>
                  <a:tr h="53383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MAE</a:t>
                          </a:r>
                          <a:endParaRPr lang="ko-KR" altLang="en-US" sz="3500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161,181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3759407"/>
                      </a:ext>
                    </a:extLst>
                  </a:tr>
                  <a:tr h="5338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35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NanumBarunGothic" panose="020B0600000101010101" charset="-127"/>
                              <a:ea typeface="NanumBarunGothic" panose="020B0600000101010101" charset="-127"/>
                              <a:cs typeface="+mn-cs"/>
                            </a:rPr>
                            <a:t>RMSE</a:t>
                          </a:r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216,887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519589"/>
                      </a:ext>
                    </a:extLst>
                  </a:tr>
                  <a:tr h="69949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0.7760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60034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DE1AEAF0-A79D-DA25-77C2-A6F766507D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7037182"/>
                  </p:ext>
                </p:extLst>
              </p:nvPr>
            </p:nvGraphicFramePr>
            <p:xfrm>
              <a:off x="10952881" y="5067300"/>
              <a:ext cx="6007968" cy="19491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003984">
                      <a:extLst>
                        <a:ext uri="{9D8B030D-6E8A-4147-A177-3AD203B41FA5}">
                          <a16:colId xmlns:a16="http://schemas.microsoft.com/office/drawing/2014/main" val="430796066"/>
                        </a:ext>
                      </a:extLst>
                    </a:gridCol>
                    <a:gridCol w="3003984">
                      <a:extLst>
                        <a:ext uri="{9D8B030D-6E8A-4147-A177-3AD203B41FA5}">
                          <a16:colId xmlns:a16="http://schemas.microsoft.com/office/drawing/2014/main" val="3261049376"/>
                        </a:ext>
                      </a:extLst>
                    </a:gridCol>
                  </a:tblGrid>
                  <a:tr h="624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MAE</a:t>
                          </a:r>
                          <a:endParaRPr lang="ko-KR" altLang="en-US" sz="3500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161,181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3759407"/>
                      </a:ext>
                    </a:extLst>
                  </a:tr>
                  <a:tr h="624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35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NanumBarunGothic" panose="020B0600000101010101" charset="-127"/>
                              <a:ea typeface="NanumBarunGothic" panose="020B0600000101010101" charset="-127"/>
                              <a:cs typeface="+mn-cs"/>
                            </a:rPr>
                            <a:t>RMSE</a:t>
                          </a:r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216,887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519589"/>
                      </a:ext>
                    </a:extLst>
                  </a:tr>
                  <a:tr h="69949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2" t="-191304" r="-100607" b="-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0.7760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60034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3B48E3D-4565-3586-6E54-92529F2137C8}"/>
              </a:ext>
            </a:extLst>
          </p:cNvPr>
          <p:cNvSpPr txBox="1"/>
          <p:nvPr/>
        </p:nvSpPr>
        <p:spPr>
          <a:xfrm>
            <a:off x="12441866" y="4467499"/>
            <a:ext cx="3029997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&lt;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기준 모델 의 성능 지표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&gt;</a:t>
            </a:r>
            <a:endParaRPr lang="ko-KR" altLang="en-US" sz="2300" b="1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pic>
        <p:nvPicPr>
          <p:cNvPr id="16" name="그림 1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D37FA7-EEE4-FFEF-7743-A389C132F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247" y="4381499"/>
            <a:ext cx="4486901" cy="2866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8" name="그림 1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9DF2DD-0DD7-5726-3A15-0AA5F0390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531" y="4381499"/>
            <a:ext cx="4420217" cy="2866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9AB6B4-2B3C-ACD7-7791-BC861BDF826A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21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1857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12646-FEA5-5B0E-1C0B-65181CD8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4F4E2B5-F550-345A-473F-3077D507E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136A7280-5FAC-D561-49D3-170B3608F6F9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5.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변수 선택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F083DA9B-04FD-420D-5A41-B8AA247BD86B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5.3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en-US" altLang="ko-KR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Boruta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를 활용한 </a:t>
            </a: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변수 선별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91F9188E-05F2-CA8F-8E35-F4BADD6653B9}"/>
              </a:ext>
            </a:extLst>
          </p:cNvPr>
          <p:cNvSpPr txBox="1"/>
          <p:nvPr/>
        </p:nvSpPr>
        <p:spPr>
          <a:xfrm>
            <a:off x="1327151" y="2950426"/>
            <a:ext cx="15792449" cy="69682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다음 단계로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EBM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기반 중요도 결과가 특정 모델에 치우치지 않는지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   확인하기 위해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Boruta </a:t>
            </a:r>
            <a:r>
              <a:rPr lang="en-US" altLang="ko-KR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shap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을 적용해 핵심 변수를 추가로 선별했다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Boruta </a:t>
            </a:r>
            <a:r>
              <a:rPr lang="en-US" altLang="ko-KR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shap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은 각 변수의 중요도를 무작위로 생성된 변수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   (shadow feature)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와 비교함으로써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 예측에 통계적으로 </a:t>
            </a:r>
            <a:r>
              <a:rPr lang="ko-KR" altLang="en-US" sz="2300" b="1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유의미</a:t>
            </a:r>
            <a:endParaRPr lang="en-US" altLang="ko-KR" sz="2300" b="1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   </a:t>
            </a: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하게 기여하는 변수만을 선별하는 방법이다</a:t>
            </a:r>
            <a:r>
              <a:rPr lang="en-US" altLang="ko-KR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0">
              <a:lnSpc>
                <a:spcPct val="150000"/>
              </a:lnSpc>
              <a:defRPr/>
            </a:pPr>
            <a:endParaRPr lang="en-US" altLang="ko-KR" sz="2300" b="1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단일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importance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는 모델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/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샘플에 따라 변동될 수 있어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Boruta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로 일관되게 중요한 변수만 보수적으로 선별했다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 algn="ctr">
              <a:lnSpc>
                <a:spcPct val="200000"/>
              </a:lnSpc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Boruta </a:t>
            </a:r>
            <a:r>
              <a:rPr lang="en-US" altLang="ko-KR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shap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결과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전체 변수 중 일부만이 일관되게 중요한 변수로 확인되었으며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</a:p>
          <a:p>
            <a:pPr lvl="0" algn="ctr">
              <a:lnSpc>
                <a:spcPct val="200000"/>
              </a:lnSpc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다수의 변수들은 예측 기여도가 낮아 제거 가능한 변수로 분류되었다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0" algn="ctr">
              <a:lnSpc>
                <a:spcPct val="200000"/>
              </a:lnSpc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이를 통해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EDA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및 단순 중요도 분석만으로는 구분하기 어려웠던 변수들을 모델 관점에서 보다 명확히 선별할 수 있었다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0" algn="ctr">
              <a:lnSpc>
                <a:spcPct val="200000"/>
              </a:lnSpc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9AB79F0-A045-F1EB-2F95-15A6D3D8F29C}"/>
              </a:ext>
            </a:extLst>
          </p:cNvPr>
          <p:cNvSpPr/>
          <p:nvPr/>
        </p:nvSpPr>
        <p:spPr>
          <a:xfrm>
            <a:off x="1524000" y="7228469"/>
            <a:ext cx="15792450" cy="23346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3217F9-18FC-2349-19CA-5BCF8DF38F2A}"/>
              </a:ext>
            </a:extLst>
          </p:cNvPr>
          <p:cNvSpPr txBox="1"/>
          <p:nvPr/>
        </p:nvSpPr>
        <p:spPr>
          <a:xfrm>
            <a:off x="9982200" y="2161930"/>
            <a:ext cx="7420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&lt; 22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개의 컬럼 중 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10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개의 컬럼이 채택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, 12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개의 컬럼이 기각되었다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.&gt;</a:t>
            </a:r>
            <a:endParaRPr lang="ko-KR" altLang="en-US" sz="2000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pic>
        <p:nvPicPr>
          <p:cNvPr id="16" name="그림 1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A3D777-0364-AF6F-6235-0484DCE48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1641" y="2793905"/>
            <a:ext cx="3600953" cy="2886478"/>
          </a:xfrm>
          <a:prstGeom prst="rect">
            <a:avLst/>
          </a:prstGeom>
        </p:spPr>
      </p:pic>
      <p:pic>
        <p:nvPicPr>
          <p:cNvPr id="18" name="그림 1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1103A2-0043-AD13-F542-E672CC44D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400" y="2793905"/>
            <a:ext cx="3639058" cy="31627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77F2CB-2850-52EB-325E-B0FE2D5332C4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22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121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70117A-B0BF-C0F8-65BD-67070BE44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493D80E-9941-8161-B294-2298D1E7F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823134B3-C9BA-92B1-A00F-2FCED24E5C12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5.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변수 선택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0721AB83-C4B4-20B0-BEB8-F9346E4B3B4C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5.4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변수 축소에 따른 성능 비교 및 해석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B5D885E-F117-D924-6266-2791A79EE35B}"/>
              </a:ext>
            </a:extLst>
          </p:cNvPr>
          <p:cNvSpPr txBox="1"/>
          <p:nvPr/>
        </p:nvSpPr>
        <p:spPr>
          <a:xfrm>
            <a:off x="1327151" y="2950426"/>
            <a:ext cx="15792449" cy="69682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Boruta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통해 선별된 변수 집합과 전체 변수를 모두 사용한 모델 간의 성능을 비교한 결과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MAE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등 주요 평가 지표에서 두 모델 간 성능 차이는 매우 제한적인 수준으로 나타났다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이는 예측 성능을 거의 유지하면서도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중요도가 낮은 변수를 상당수 제거할 수 있음을 의미한다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0" algn="ctr">
              <a:lnSpc>
                <a:spcPct val="200000"/>
              </a:lnSpc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성능 차이가 크지 않다면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또는 소폭 열세라면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),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운영 비용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설명 가능성을 고려해 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 algn="ctr">
              <a:lnSpc>
                <a:spcPct val="200000"/>
              </a:lnSpc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Top features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모델을 기본안으로 채택하는 것이 합리적이다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020F5C1A-250C-683C-BF3C-2B302AC776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171925"/>
                  </p:ext>
                </p:extLst>
              </p:nvPr>
            </p:nvGraphicFramePr>
            <p:xfrm>
              <a:off x="1787615" y="3726486"/>
              <a:ext cx="6007968" cy="19491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003984">
                      <a:extLst>
                        <a:ext uri="{9D8B030D-6E8A-4147-A177-3AD203B41FA5}">
                          <a16:colId xmlns:a16="http://schemas.microsoft.com/office/drawing/2014/main" val="430796066"/>
                        </a:ext>
                      </a:extLst>
                    </a:gridCol>
                    <a:gridCol w="3003984">
                      <a:extLst>
                        <a:ext uri="{9D8B030D-6E8A-4147-A177-3AD203B41FA5}">
                          <a16:colId xmlns:a16="http://schemas.microsoft.com/office/drawing/2014/main" val="3261049376"/>
                        </a:ext>
                      </a:extLst>
                    </a:gridCol>
                  </a:tblGrid>
                  <a:tr h="53383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MAE</a:t>
                          </a:r>
                          <a:endParaRPr lang="ko-KR" altLang="en-US" sz="3500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161,181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3759407"/>
                      </a:ext>
                    </a:extLst>
                  </a:tr>
                  <a:tr h="5338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35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NanumBarunGothic" panose="020B0600000101010101" charset="-127"/>
                              <a:ea typeface="NanumBarunGothic" panose="020B0600000101010101" charset="-127"/>
                              <a:cs typeface="+mn-cs"/>
                            </a:rPr>
                            <a:t>RMSE</a:t>
                          </a:r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216,887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519589"/>
                      </a:ext>
                    </a:extLst>
                  </a:tr>
                  <a:tr h="69949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0.7760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60034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020F5C1A-250C-683C-BF3C-2B302AC776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171925"/>
                  </p:ext>
                </p:extLst>
              </p:nvPr>
            </p:nvGraphicFramePr>
            <p:xfrm>
              <a:off x="1787615" y="3726486"/>
              <a:ext cx="6007968" cy="19491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003984">
                      <a:extLst>
                        <a:ext uri="{9D8B030D-6E8A-4147-A177-3AD203B41FA5}">
                          <a16:colId xmlns:a16="http://schemas.microsoft.com/office/drawing/2014/main" val="430796066"/>
                        </a:ext>
                      </a:extLst>
                    </a:gridCol>
                    <a:gridCol w="3003984">
                      <a:extLst>
                        <a:ext uri="{9D8B030D-6E8A-4147-A177-3AD203B41FA5}">
                          <a16:colId xmlns:a16="http://schemas.microsoft.com/office/drawing/2014/main" val="3261049376"/>
                        </a:ext>
                      </a:extLst>
                    </a:gridCol>
                  </a:tblGrid>
                  <a:tr h="624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MAE</a:t>
                          </a:r>
                          <a:endParaRPr lang="ko-KR" altLang="en-US" sz="3500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161,181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3759407"/>
                      </a:ext>
                    </a:extLst>
                  </a:tr>
                  <a:tr h="624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35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NanumBarunGothic" panose="020B0600000101010101" charset="-127"/>
                              <a:ea typeface="NanumBarunGothic" panose="020B0600000101010101" charset="-127"/>
                              <a:cs typeface="+mn-cs"/>
                            </a:rPr>
                            <a:t>RMSE</a:t>
                          </a:r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216,887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519589"/>
                      </a:ext>
                    </a:extLst>
                  </a:tr>
                  <a:tr h="69949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3" t="-192174" r="-100811" b="-2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0.7760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60034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297CB9C-30C8-C50D-9278-2A7B49DBF6C7}"/>
              </a:ext>
            </a:extLst>
          </p:cNvPr>
          <p:cNvSpPr txBox="1"/>
          <p:nvPr/>
        </p:nvSpPr>
        <p:spPr>
          <a:xfrm>
            <a:off x="3276600" y="3126685"/>
            <a:ext cx="3343608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&lt;Boruta 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이전의 성능 지표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&gt;</a:t>
            </a:r>
            <a:endParaRPr lang="ko-KR" altLang="en-US" sz="2300" b="1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4BF784DD-AC25-DC52-0B7E-B406B67D9F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9891366"/>
                  </p:ext>
                </p:extLst>
              </p:nvPr>
            </p:nvGraphicFramePr>
            <p:xfrm>
              <a:off x="10477679" y="3727806"/>
              <a:ext cx="6007968" cy="19491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003984">
                      <a:extLst>
                        <a:ext uri="{9D8B030D-6E8A-4147-A177-3AD203B41FA5}">
                          <a16:colId xmlns:a16="http://schemas.microsoft.com/office/drawing/2014/main" val="430796066"/>
                        </a:ext>
                      </a:extLst>
                    </a:gridCol>
                    <a:gridCol w="3003984">
                      <a:extLst>
                        <a:ext uri="{9D8B030D-6E8A-4147-A177-3AD203B41FA5}">
                          <a16:colId xmlns:a16="http://schemas.microsoft.com/office/drawing/2014/main" val="3261049376"/>
                        </a:ext>
                      </a:extLst>
                    </a:gridCol>
                  </a:tblGrid>
                  <a:tr h="53383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MAE</a:t>
                          </a:r>
                          <a:endParaRPr lang="ko-KR" altLang="en-US" sz="3500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161,632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3759407"/>
                      </a:ext>
                    </a:extLst>
                  </a:tr>
                  <a:tr h="5338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35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NanumBarunGothic" panose="020B0600000101010101" charset="-127"/>
                              <a:ea typeface="NanumBarunGothic" panose="020B0600000101010101" charset="-127"/>
                              <a:cs typeface="+mn-cs"/>
                            </a:rPr>
                            <a:t>RMSE</a:t>
                          </a:r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217,902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519589"/>
                      </a:ext>
                    </a:extLst>
                  </a:tr>
                  <a:tr h="69949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0.7739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60034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4BF784DD-AC25-DC52-0B7E-B406B67D9F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9891366"/>
                  </p:ext>
                </p:extLst>
              </p:nvPr>
            </p:nvGraphicFramePr>
            <p:xfrm>
              <a:off x="10477679" y="3727806"/>
              <a:ext cx="6007968" cy="19491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003984">
                      <a:extLst>
                        <a:ext uri="{9D8B030D-6E8A-4147-A177-3AD203B41FA5}">
                          <a16:colId xmlns:a16="http://schemas.microsoft.com/office/drawing/2014/main" val="430796066"/>
                        </a:ext>
                      </a:extLst>
                    </a:gridCol>
                    <a:gridCol w="3003984">
                      <a:extLst>
                        <a:ext uri="{9D8B030D-6E8A-4147-A177-3AD203B41FA5}">
                          <a16:colId xmlns:a16="http://schemas.microsoft.com/office/drawing/2014/main" val="3261049376"/>
                        </a:ext>
                      </a:extLst>
                    </a:gridCol>
                  </a:tblGrid>
                  <a:tr h="624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MAE</a:t>
                          </a:r>
                          <a:endParaRPr lang="ko-KR" altLang="en-US" sz="3500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161,632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3759407"/>
                      </a:ext>
                    </a:extLst>
                  </a:tr>
                  <a:tr h="624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35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NanumBarunGothic" panose="020B0600000101010101" charset="-127"/>
                              <a:ea typeface="NanumBarunGothic" panose="020B0600000101010101" charset="-127"/>
                              <a:cs typeface="+mn-cs"/>
                            </a:rPr>
                            <a:t>RMSE</a:t>
                          </a:r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217,902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519589"/>
                      </a:ext>
                    </a:extLst>
                  </a:tr>
                  <a:tr h="69949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02" t="-191304" r="-100607" b="-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0.7739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60034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C0081D9-FAFE-7BE5-9C8F-85102A787AF8}"/>
              </a:ext>
            </a:extLst>
          </p:cNvPr>
          <p:cNvSpPr txBox="1"/>
          <p:nvPr/>
        </p:nvSpPr>
        <p:spPr>
          <a:xfrm>
            <a:off x="11966664" y="3128005"/>
            <a:ext cx="3409331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&lt;Boruta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 이후의 성능 지표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&gt;</a:t>
            </a:r>
            <a:endParaRPr lang="ko-KR" altLang="en-US" sz="2300" b="1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FD27FE-BD2D-2E2E-4699-EE89E4FCC2AD}"/>
              </a:ext>
            </a:extLst>
          </p:cNvPr>
          <p:cNvSpPr/>
          <p:nvPr/>
        </p:nvSpPr>
        <p:spPr>
          <a:xfrm>
            <a:off x="1327151" y="8521700"/>
            <a:ext cx="15792450" cy="1600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0F1CF6-A66E-47DC-2022-AE89E3F8EF54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23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860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3AABEB-E180-269C-B79C-05E3C9345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25E0FF5-3F72-84A0-B3FF-EA6C602F1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A1602049-4EBD-DBF1-53C4-9EC548B6833A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6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 </a:t>
            </a:r>
            <a:r>
              <a:rPr lang="ko-KR" altLang="en-US" sz="4500" b="1" spc="100" dirty="0">
                <a:solidFill>
                  <a:srgbClr val="000000"/>
                </a:solidFill>
                <a:latin typeface="Calibri"/>
                <a:ea typeface="NanumBarunGothic"/>
              </a:rPr>
              <a:t>모델링</a:t>
            </a: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EBE7F6D1-75A8-1AE8-8537-818DEC323272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6.1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모델링 </a:t>
            </a: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목적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및 분석 절차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C2AE859-F325-C02E-8960-3F8AFF83DC52}"/>
              </a:ext>
            </a:extLst>
          </p:cNvPr>
          <p:cNvSpPr txBox="1"/>
          <p:nvPr/>
        </p:nvSpPr>
        <p:spPr>
          <a:xfrm>
            <a:off x="1022351" y="2781300"/>
            <a:ext cx="8350249" cy="635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모델링 범위</a:t>
            </a:r>
            <a:endParaRPr lang="en-US" altLang="ko-KR" sz="2300" b="1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변수 선택 결과로 도출한 </a:t>
            </a:r>
            <a:r>
              <a:rPr lang="en-US" altLang="ko-KR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Top features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중심으로 예측 모델 구축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변수 구성에 따른 성능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정확도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)–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효율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단순성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)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비교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성능 확인을 위해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Test set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으로 학습 및 결과물 파악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모델링 목적</a:t>
            </a:r>
            <a:endParaRPr lang="en-US" altLang="ko-KR" sz="2300" b="1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최고 성능보다 </a:t>
            </a: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불필요 변수 제거 후 성능 유지 가능성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확인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실무 관점에서 </a:t>
            </a: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계산비용</a:t>
            </a:r>
            <a:r>
              <a:rPr lang="en-US" altLang="ko-KR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복잡도</a:t>
            </a:r>
            <a:r>
              <a:rPr lang="en-US" altLang="ko-KR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해석가능성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의 균형</a:t>
            </a: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제시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D231DF6-2ABD-C659-54C4-5858BD5E9EFB}"/>
              </a:ext>
            </a:extLst>
          </p:cNvPr>
          <p:cNvSpPr txBox="1"/>
          <p:nvPr/>
        </p:nvSpPr>
        <p:spPr>
          <a:xfrm>
            <a:off x="9525000" y="2781300"/>
            <a:ext cx="8350249" cy="635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 선택 이유 </a:t>
            </a:r>
            <a:r>
              <a:rPr lang="en-US" altLang="ko-KR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en-US" altLang="ko-KR" sz="2300" b="1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RandomForest</a:t>
            </a:r>
            <a:r>
              <a:rPr lang="en-US" altLang="ko-KR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)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비선형 </a:t>
            </a:r>
            <a:r>
              <a:rPr lang="en-US" altLang="ko-KR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+ </a:t>
            </a: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변수 상호작용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을 함께 포착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변수 중요도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로 영향 요인 해석이 가능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분석 절차</a:t>
            </a:r>
            <a:endParaRPr lang="en-US" altLang="ko-KR" sz="2300" b="1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Top features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모델을 </a:t>
            </a:r>
            <a:r>
              <a:rPr lang="en-US" altLang="ko-KR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Grid Search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튜닝 → </a:t>
            </a: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기준 성능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산출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이후 </a:t>
            </a:r>
            <a:r>
              <a:rPr lang="en-US" altLang="ko-KR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Hyperparameter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튜닝</a:t>
            </a: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→ </a:t>
            </a: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비교 성능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산출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참고용으로 </a:t>
            </a:r>
            <a:r>
              <a:rPr lang="en-US" altLang="ko-KR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All columns </a:t>
            </a:r>
            <a:r>
              <a:rPr lang="ko-KR" altLang="en-US" sz="23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과 성능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효율 비교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FCBCBD-8F98-DD30-F39A-7A66ED0519FB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24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4128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1E6F3-BF84-882B-2857-8FC4C65C3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7429802-043E-A650-4D09-49CB36D20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D9DFE30A-1940-4F3A-A7E0-1D6F703910F0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모델링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D089C635-A018-1776-8BF6-C00ACEB8E7B0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6.2 Top features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기반 </a:t>
            </a:r>
            <a:r>
              <a:rPr kumimoji="0" lang="en-US" altLang="ko-KR" sz="3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RandomForest</a:t>
            </a:r>
            <a:r>
              <a:rPr kumimoji="0" lang="en-US" altLang="ko-KR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Grid Search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구조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03BAA3C-06AE-A00A-4212-4D7CB554C30A}"/>
              </a:ext>
            </a:extLst>
          </p:cNvPr>
          <p:cNvSpPr txBox="1"/>
          <p:nvPr/>
        </p:nvSpPr>
        <p:spPr>
          <a:xfrm>
            <a:off x="1247775" y="6773434"/>
            <a:ext cx="15792449" cy="314526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200000"/>
              </a:lnSpc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 algn="ctr">
              <a:lnSpc>
                <a:spcPct val="200000"/>
              </a:lnSpc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본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Grid Search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에서는 트리 개수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트리 깊이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노드 분할 기준과 리프 크기를 중심으로</a:t>
            </a:r>
          </a:p>
          <a:p>
            <a:pPr lvl="0" algn="ctr">
              <a:lnSpc>
                <a:spcPct val="200000"/>
              </a:lnSpc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총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24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개 조합에 대한 성능을 비교하였다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marR="0" lvl="0" indent="-342900" algn="ct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8B0B685-D479-1F6C-2C78-EFA65B0BE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803386"/>
              </p:ext>
            </p:extLst>
          </p:nvPr>
        </p:nvGraphicFramePr>
        <p:xfrm>
          <a:off x="6832600" y="3100966"/>
          <a:ext cx="10287000" cy="3145265"/>
        </p:xfrm>
        <a:graphic>
          <a:graphicData uri="http://schemas.openxmlformats.org/drawingml/2006/table">
            <a:tbl>
              <a:tblPr/>
              <a:tblGrid>
                <a:gridCol w="5143500">
                  <a:extLst>
                    <a:ext uri="{9D8B030D-6E8A-4147-A177-3AD203B41FA5}">
                      <a16:colId xmlns:a16="http://schemas.microsoft.com/office/drawing/2014/main" val="259943968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188540495"/>
                    </a:ext>
                  </a:extLst>
                </a:gridCol>
              </a:tblGrid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5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하이퍼파라미터</a:t>
                      </a:r>
                      <a:endParaRPr lang="ko-KR" altLang="en-US" sz="25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5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탐색 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38428"/>
                  </a:ext>
                </a:extLst>
              </a:tr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n_estimators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200, 400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895678"/>
                  </a:ext>
                </a:extLst>
              </a:tr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max_depth</a:t>
                      </a:r>
                      <a:endParaRPr lang="en-US" sz="22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10, 20, 50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84423"/>
                  </a:ext>
                </a:extLst>
              </a:tr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min_samples_split</a:t>
                      </a:r>
                      <a:endParaRPr lang="en-US" sz="22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10, 30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94455"/>
                  </a:ext>
                </a:extLst>
              </a:tr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min_samples_leaf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5, 10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654333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3A3CF865-FF19-5B8C-58FD-005F765B9E56}"/>
              </a:ext>
            </a:extLst>
          </p:cNvPr>
          <p:cNvSpPr/>
          <p:nvPr/>
        </p:nvSpPr>
        <p:spPr>
          <a:xfrm>
            <a:off x="1327150" y="7366916"/>
            <a:ext cx="15792450" cy="195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B91ACB6-CADD-BBB8-67EF-D54A43FCD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150305"/>
              </p:ext>
            </p:extLst>
          </p:nvPr>
        </p:nvGraphicFramePr>
        <p:xfrm>
          <a:off x="1447800" y="2792200"/>
          <a:ext cx="4724400" cy="4089864"/>
        </p:xfrm>
        <a:graphic>
          <a:graphicData uri="http://schemas.openxmlformats.org/drawingml/2006/table">
            <a:tbl>
              <a:tblPr/>
              <a:tblGrid>
                <a:gridCol w="872182">
                  <a:extLst>
                    <a:ext uri="{9D8B030D-6E8A-4147-A177-3AD203B41FA5}">
                      <a16:colId xmlns:a16="http://schemas.microsoft.com/office/drawing/2014/main" val="1100529694"/>
                    </a:ext>
                  </a:extLst>
                </a:gridCol>
                <a:gridCol w="3852218">
                  <a:extLst>
                    <a:ext uri="{9D8B030D-6E8A-4147-A177-3AD203B41FA5}">
                      <a16:colId xmlns:a16="http://schemas.microsoft.com/office/drawing/2014/main" val="2371630570"/>
                    </a:ext>
                  </a:extLst>
                </a:gridCol>
              </a:tblGrid>
              <a:tr h="315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Top_features</a:t>
                      </a:r>
                      <a:endParaRPr lang="ko-KR" altLang="en-US" sz="22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516993"/>
                  </a:ext>
                </a:extLst>
              </a:tr>
              <a:tr h="5514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잔액</a:t>
                      </a: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</a:t>
                      </a:r>
                      <a:r>
                        <a:rPr lang="ko-KR" altLang="en-US" sz="2200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리볼빙일시불이월</a:t>
                      </a: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_B0M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694844"/>
                  </a:ext>
                </a:extLst>
              </a:tr>
              <a:tr h="315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월중평잔</a:t>
                      </a: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_RV</a:t>
                      </a:r>
                      <a:r>
                        <a:rPr lang="ko-KR" alt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일시불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271083"/>
                  </a:ext>
                </a:extLst>
              </a:tr>
              <a:tr h="315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평잔</a:t>
                      </a: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</a:t>
                      </a:r>
                      <a:r>
                        <a:rPr 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RV</a:t>
                      </a:r>
                      <a:r>
                        <a:rPr lang="ko-KR" alt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일시불</a:t>
                      </a: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_3</a:t>
                      </a:r>
                      <a:r>
                        <a:rPr 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76444"/>
                  </a:ext>
                </a:extLst>
              </a:tr>
              <a:tr h="315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이용금액</a:t>
                      </a: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</a:t>
                      </a:r>
                      <a:r>
                        <a:rPr lang="ko-KR" alt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신용</a:t>
                      </a: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_B0M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386526"/>
                  </a:ext>
                </a:extLst>
              </a:tr>
              <a:tr h="5514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잔액</a:t>
                      </a: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</a:t>
                      </a:r>
                      <a:r>
                        <a:rPr lang="ko-KR" altLang="en-US" sz="2200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신판평균한도소진율</a:t>
                      </a: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_r6m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894130"/>
                  </a:ext>
                </a:extLst>
              </a:tr>
              <a:tr h="315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카드이용한도금액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226439"/>
                  </a:ext>
                </a:extLst>
              </a:tr>
              <a:tr h="315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RV_</a:t>
                      </a:r>
                      <a:r>
                        <a:rPr lang="ko-KR" alt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최대잔액</a:t>
                      </a: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</a:t>
                      </a:r>
                      <a:r>
                        <a:rPr 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R12M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450963"/>
                  </a:ext>
                </a:extLst>
              </a:tr>
              <a:tr h="315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잔액</a:t>
                      </a: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</a:t>
                      </a:r>
                      <a:r>
                        <a:rPr 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B0M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61303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A9795E1-77FB-BA3A-C213-4C3D4C103DAC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25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4518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BFE9A-997A-7C43-D73A-0DF773D1A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4A03431-4B96-6A40-D040-CDC36EBD5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41962574-5281-A629-EC06-7E1215E41358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모델링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1A9458AB-C202-006D-D034-4DEEDC18A2DC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6.3 Top features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기반 </a:t>
            </a:r>
            <a:r>
              <a:rPr kumimoji="0" lang="en-US" altLang="ko-KR" sz="3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RandomForest</a:t>
            </a:r>
            <a:r>
              <a:rPr kumimoji="0" lang="en-US" altLang="ko-KR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Grid Search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DCCD457-F8F2-A555-5C20-9AB3001BA79A}"/>
              </a:ext>
            </a:extLst>
          </p:cNvPr>
          <p:cNvSpPr txBox="1"/>
          <p:nvPr/>
        </p:nvSpPr>
        <p:spPr>
          <a:xfrm>
            <a:off x="1327151" y="2950426"/>
            <a:ext cx="7816849" cy="63078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선별된 </a:t>
            </a:r>
            <a:r>
              <a:rPr lang="en-US" altLang="ko-KR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top_features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(8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개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)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만을 활용하여 </a:t>
            </a:r>
            <a:r>
              <a:rPr lang="en-US" altLang="ko-KR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RandomForest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모델에 대해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Grid Search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수행한 결과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왼쪽의 표와 같다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0">
              <a:lnSpc>
                <a:spcPct val="200000"/>
              </a:lnSpc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  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해당 표에서 가장 작은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MAE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기록한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radomforest_5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모델의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</a:p>
          <a:p>
            <a:pPr lvl="0">
              <a:lnSpc>
                <a:spcPct val="200000"/>
              </a:lnSpc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  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조합을 최적의 조합으로 선택했다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62E38D7-8310-0EA1-3049-2654A8329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268049"/>
              </p:ext>
            </p:extLst>
          </p:nvPr>
        </p:nvGraphicFramePr>
        <p:xfrm>
          <a:off x="10363200" y="2950426"/>
          <a:ext cx="6400800" cy="68465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62925428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357014846"/>
                    </a:ext>
                  </a:extLst>
                </a:gridCol>
              </a:tblGrid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모델명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CV Score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731321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randomforest_0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-170,846 ± 997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028556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-170,817 ± 1,009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523070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randomforest_2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-170,853 ± 999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634167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randomforest_3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-170,829 ± 1,011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018253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-170,786 ± 998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404718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highlight>
                            <a:srgbClr val="FFFF00"/>
                          </a:highlight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randomforest_5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dirty="0">
                          <a:highlight>
                            <a:srgbClr val="FFFF00"/>
                          </a:highlight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-170,778 ± 1,024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522765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randomforest_6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-170,791 ± 1,000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753429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randomforest_7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-170,780 ± 1,025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3485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randomforest_8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-172,127 ± 774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006923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randomforest_9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-171,993 ± 786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538350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randomforest_10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-171,508 ± 793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118282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randomforest_11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-171,418 ± 802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8549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randomforest_12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-171,491 ± 854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940405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randomforest_13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-171,443 ± 871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87398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-171,314 ± 877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264169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randomforest_15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-171,264 ± 894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919195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randomforest_16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-172,291 ± 778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58427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randomforest_17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-172,140 ± 777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158854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randomforest_18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-171,559 ± 794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07336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randomforest_19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-171,467 ± 803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510884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randomforest_20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-171,522 ± 849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832858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randomforest_21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-171,471 ± 864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059262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randomforest_22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-171,333 ± 874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72979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randomforest_23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-171,280 ± 890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176059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30F6700-0F27-E293-D113-72E793D8C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192893"/>
              </p:ext>
            </p:extLst>
          </p:nvPr>
        </p:nvGraphicFramePr>
        <p:xfrm>
          <a:off x="1327151" y="6057900"/>
          <a:ext cx="7816848" cy="3145265"/>
        </p:xfrm>
        <a:graphic>
          <a:graphicData uri="http://schemas.openxmlformats.org/drawingml/2006/table">
            <a:tbl>
              <a:tblPr/>
              <a:tblGrid>
                <a:gridCol w="3908424">
                  <a:extLst>
                    <a:ext uri="{9D8B030D-6E8A-4147-A177-3AD203B41FA5}">
                      <a16:colId xmlns:a16="http://schemas.microsoft.com/office/drawing/2014/main" val="259943968"/>
                    </a:ext>
                  </a:extLst>
                </a:gridCol>
                <a:gridCol w="3908424">
                  <a:extLst>
                    <a:ext uri="{9D8B030D-6E8A-4147-A177-3AD203B41FA5}">
                      <a16:colId xmlns:a16="http://schemas.microsoft.com/office/drawing/2014/main" val="2188540495"/>
                    </a:ext>
                  </a:extLst>
                </a:gridCol>
              </a:tblGrid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5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하이퍼</a:t>
                      </a:r>
                      <a:r>
                        <a:rPr lang="ko-KR" altLang="en-US" sz="25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 파라미터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5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결정값</a:t>
                      </a:r>
                      <a:endParaRPr lang="ko-KR" altLang="en-US" sz="25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38428"/>
                  </a:ext>
                </a:extLst>
              </a:tr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n_estimators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895678"/>
                  </a:ext>
                </a:extLst>
              </a:tr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max_depth</a:t>
                      </a:r>
                      <a:endParaRPr lang="en-US" sz="22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84423"/>
                  </a:ext>
                </a:extLst>
              </a:tr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min_samples_split</a:t>
                      </a:r>
                      <a:endParaRPr lang="en-US" sz="22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94455"/>
                  </a:ext>
                </a:extLst>
              </a:tr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min_samples_leaf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65433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51074C3-D20C-F84B-4910-06EFC7A23F1A}"/>
              </a:ext>
            </a:extLst>
          </p:cNvPr>
          <p:cNvSpPr txBox="1"/>
          <p:nvPr/>
        </p:nvSpPr>
        <p:spPr>
          <a:xfrm>
            <a:off x="1327151" y="9427594"/>
            <a:ext cx="781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*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본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CV Score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는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(−MAE)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로 기록되어 값이 ‘클수록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(0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에 가까울수록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)’ 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성능이 좋다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.*</a:t>
            </a:r>
            <a:endParaRPr lang="ko-KR" altLang="en-US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12750B-2B93-9A60-4B68-CB399A3E7003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8722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6DE69-3E48-BF38-AD8C-415342F76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A1CDA22-4558-EF59-2A17-C8D0A19B9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BC8BB40B-9FA7-9CA6-2972-5E9F4ED28560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모델링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16ED0A32-99F7-4322-E42C-16AFDA67C222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6.4 Top features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기반 </a:t>
            </a:r>
            <a:r>
              <a:rPr kumimoji="0" lang="en-US" altLang="ko-KR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Hyperparameter Tuning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구조 및 결과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11AF1A1D-CF76-D877-536E-EA306028C345}"/>
              </a:ext>
            </a:extLst>
          </p:cNvPr>
          <p:cNvSpPr txBox="1"/>
          <p:nvPr/>
        </p:nvSpPr>
        <p:spPr>
          <a:xfrm>
            <a:off x="1327151" y="2950426"/>
            <a:ext cx="7816849" cy="64602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Grid Search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결과를 바탕으로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n_estimators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en-US" altLang="ko-KR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max_depth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en-US" altLang="ko-KR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min_samples_leaf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의 값을 고정하고 추가적인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Hyperparameter Tuning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을 수행하였다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552B029-05E8-118A-0042-C7C8E9F30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99360"/>
              </p:ext>
            </p:extLst>
          </p:nvPr>
        </p:nvGraphicFramePr>
        <p:xfrm>
          <a:off x="1327151" y="5143500"/>
          <a:ext cx="7816850" cy="4267200"/>
        </p:xfrm>
        <a:graphic>
          <a:graphicData uri="http://schemas.openxmlformats.org/drawingml/2006/table">
            <a:tbl>
              <a:tblPr/>
              <a:tblGrid>
                <a:gridCol w="3908425">
                  <a:extLst>
                    <a:ext uri="{9D8B030D-6E8A-4147-A177-3AD203B41FA5}">
                      <a16:colId xmlns:a16="http://schemas.microsoft.com/office/drawing/2014/main" val="1231722178"/>
                    </a:ext>
                  </a:extLst>
                </a:gridCol>
                <a:gridCol w="3908425">
                  <a:extLst>
                    <a:ext uri="{9D8B030D-6E8A-4147-A177-3AD203B41FA5}">
                      <a16:colId xmlns:a16="http://schemas.microsoft.com/office/drawing/2014/main" val="1179794900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파라미터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887369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n_estimators</a:t>
                      </a:r>
                      <a:endParaRPr lang="en-US" sz="22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197477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max_depth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853478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min_samples_leaf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888337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max_features (mtry)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2, 4, 6, 8, 10, 15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35989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max_samples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0.6, 0.8, 1.0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163477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393746C-16F6-055A-C82F-75293D064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381738"/>
              </p:ext>
            </p:extLst>
          </p:nvPr>
        </p:nvGraphicFramePr>
        <p:xfrm>
          <a:off x="10575924" y="4539656"/>
          <a:ext cx="5867400" cy="5474888"/>
        </p:xfrm>
        <a:graphic>
          <a:graphicData uri="http://schemas.openxmlformats.org/drawingml/2006/table">
            <a:tbl>
              <a:tblPr/>
              <a:tblGrid>
                <a:gridCol w="2933700">
                  <a:extLst>
                    <a:ext uri="{9D8B030D-6E8A-4147-A177-3AD203B41FA5}">
                      <a16:colId xmlns:a16="http://schemas.microsoft.com/office/drawing/2014/main" val="1890040183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4042738262"/>
                    </a:ext>
                  </a:extLst>
                </a:gridCol>
              </a:tblGrid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모델명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CV Score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301003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highlight>
                            <a:srgbClr val="FFFF00"/>
                          </a:highlight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dirty="0">
                          <a:highlight>
                            <a:srgbClr val="FFFF00"/>
                          </a:highlight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-169,957.29 ± 1,045.19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917609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-169,966.26 ± 1,023.11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833737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randomforest_2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-169,954.09 ± 1,054.22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711602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randomforest_3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-170,396.91 ± 1,014.77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18046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randomforest_4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-170,458.04 ± 992.85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865652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-170,468.84 ± 987.15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401832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randomforest_6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-170,502.72 ± 1,015.15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022172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randomforest_7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-170,561.61 ± 1,016.49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62197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randomforest_8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-170,568.15 ± 1,012.63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612926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randomforest_9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-170,622.19 ± 1,042.60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591856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-170,717.58 ± 1,023.40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331842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randomforest_11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-170,777.55 ± 1,024.35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003880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randomforest_12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-170,622.19 ± 1,042.60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74806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randomforest_13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-170,717.58 ± 1,023.40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773433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randomforest_14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-170,777.55 ± 1,024.35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24934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-170,622.19 ± 1,042.60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168004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randomforest_16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-170,717.58 ± 1,023.40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607025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randomforest_17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-170,777.55 ± 1,024.35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353579"/>
                  </a:ext>
                </a:extLst>
              </a:tr>
            </a:tbl>
          </a:graphicData>
        </a:graphic>
      </p:graphicFrame>
      <p:sp>
        <p:nvSpPr>
          <p:cNvPr id="6" name="TextBox 6">
            <a:extLst>
              <a:ext uri="{FF2B5EF4-FFF2-40B4-BE49-F238E27FC236}">
                <a16:creationId xmlns:a16="http://schemas.microsoft.com/office/drawing/2014/main" id="{E04DC674-819F-8EF5-1BBB-DC5374E3C5F8}"/>
              </a:ext>
            </a:extLst>
          </p:cNvPr>
          <p:cNvSpPr txBox="1"/>
          <p:nvPr/>
        </p:nvSpPr>
        <p:spPr>
          <a:xfrm>
            <a:off x="9601200" y="2696426"/>
            <a:ext cx="7816849" cy="68666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튜닝 결과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best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모델은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randomforest_0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이며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grid search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대비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CV score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가 소폭 개선되었다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성능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–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복잡도 균형 기준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).</a:t>
            </a: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   / </a:t>
            </a:r>
            <a:r>
              <a:rPr lang="en-US" altLang="ko-KR" sz="20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max_features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= 2,  </a:t>
            </a:r>
            <a:r>
              <a:rPr lang="en-US" altLang="ko-KR" sz="20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max_samples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= 0.6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5656BA-978C-6F0E-7752-E0C2385465D0}"/>
              </a:ext>
            </a:extLst>
          </p:cNvPr>
          <p:cNvSpPr txBox="1"/>
          <p:nvPr/>
        </p:nvSpPr>
        <p:spPr>
          <a:xfrm>
            <a:off x="1327152" y="9563100"/>
            <a:ext cx="781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*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본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CV Score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는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(−MAE)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로 기록되어 값이 ‘클수록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(0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에 가까울수록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)’ 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성능이 좋다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.*</a:t>
            </a:r>
            <a:endParaRPr lang="ko-KR" altLang="en-US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A42685-779E-B039-AD16-02192D0D1297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27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42221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7482B-BF65-5B3F-B91D-5F33390C6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CCD080E-EE69-22B0-B7D6-2C6853283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DDD9F038-64E8-046B-582A-1A7B2AF4AEE3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모델링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304989E5-6FE6-028E-0D7A-8F3F770C8FE2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6.4+@ All Columns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기반 </a:t>
            </a:r>
            <a:r>
              <a:rPr kumimoji="0" lang="en-US" altLang="ko-KR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Hyperparameter Tuning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구조 및 결과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1E00BF52-F35D-9ED1-AD93-0613E34AABBB}"/>
              </a:ext>
            </a:extLst>
          </p:cNvPr>
          <p:cNvSpPr txBox="1"/>
          <p:nvPr/>
        </p:nvSpPr>
        <p:spPr>
          <a:xfrm>
            <a:off x="1327151" y="2950426"/>
            <a:ext cx="8197850" cy="21930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All Columns </a:t>
            </a:r>
            <a:r>
              <a:rPr lang="ko-KR" altLang="en-US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모델은 변수 선택을 적용하지 않은 기준 모델로서</a:t>
            </a:r>
            <a:r>
              <a:rPr lang="en-US" altLang="ko-KR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데이터가 제공할 수 있는 최대 예측 성능</a:t>
            </a:r>
            <a:r>
              <a:rPr lang="en-US" altLang="ko-KR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(upper bound)</a:t>
            </a:r>
            <a:r>
              <a:rPr lang="ko-KR" altLang="en-US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을 확인하기 위한 목적이다</a:t>
            </a:r>
            <a:r>
              <a:rPr lang="en-US" altLang="ko-KR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 구조는 </a:t>
            </a:r>
            <a:r>
              <a:rPr lang="en-US" altLang="ko-KR" sz="21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RandomForest</a:t>
            </a:r>
            <a:r>
              <a:rPr lang="ko-KR" altLang="en-US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사용하였으며</a:t>
            </a:r>
            <a:r>
              <a:rPr lang="en-US" altLang="ko-KR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Top Features </a:t>
            </a:r>
            <a:r>
              <a:rPr lang="ko-KR" altLang="en-US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모델과 동일한 </a:t>
            </a:r>
            <a:r>
              <a:rPr lang="en-US" altLang="ko-KR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Hyperparameter Tuning </a:t>
            </a:r>
            <a:r>
              <a:rPr lang="ko-KR" altLang="en-US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전략을 적용하여 학습 과정의 일관성을 유지하였다</a:t>
            </a:r>
            <a:r>
              <a:rPr lang="en-US" altLang="ko-KR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20BBBC3-623B-5650-7082-485D98E17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809081"/>
              </p:ext>
            </p:extLst>
          </p:nvPr>
        </p:nvGraphicFramePr>
        <p:xfrm>
          <a:off x="1327151" y="5600700"/>
          <a:ext cx="8197850" cy="3581400"/>
        </p:xfrm>
        <a:graphic>
          <a:graphicData uri="http://schemas.openxmlformats.org/drawingml/2006/table">
            <a:tbl>
              <a:tblPr/>
              <a:tblGrid>
                <a:gridCol w="4098925">
                  <a:extLst>
                    <a:ext uri="{9D8B030D-6E8A-4147-A177-3AD203B41FA5}">
                      <a16:colId xmlns:a16="http://schemas.microsoft.com/office/drawing/2014/main" val="1231722178"/>
                    </a:ext>
                  </a:extLst>
                </a:gridCol>
                <a:gridCol w="4098925">
                  <a:extLst>
                    <a:ext uri="{9D8B030D-6E8A-4147-A177-3AD203B41FA5}">
                      <a16:colId xmlns:a16="http://schemas.microsoft.com/office/drawing/2014/main" val="1179794900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파라미터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887369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n_estimators</a:t>
                      </a:r>
                      <a:endParaRPr lang="en-US" sz="22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197477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max_depth</a:t>
                      </a:r>
                      <a:endParaRPr lang="en-US" sz="22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853478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min_samples_leaf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888337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max_features (mtry)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2, 4, 6, 8, 10, 15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35989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max_samples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0.6, 0.8, 1.0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163477"/>
                  </a:ext>
                </a:extLst>
              </a:tr>
            </a:tbl>
          </a:graphicData>
        </a:graphic>
      </p:graphicFrame>
      <p:sp>
        <p:nvSpPr>
          <p:cNvPr id="6" name="TextBox 6">
            <a:extLst>
              <a:ext uri="{FF2B5EF4-FFF2-40B4-BE49-F238E27FC236}">
                <a16:creationId xmlns:a16="http://schemas.microsoft.com/office/drawing/2014/main" id="{7C601820-D47E-9FA5-7F8F-830CBBD98880}"/>
              </a:ext>
            </a:extLst>
          </p:cNvPr>
          <p:cNvSpPr txBox="1"/>
          <p:nvPr/>
        </p:nvSpPr>
        <p:spPr>
          <a:xfrm>
            <a:off x="10210800" y="2597308"/>
            <a:ext cx="7816849" cy="701659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튜닝 결과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‘randomforest_5’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best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모델이며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Top features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대비 성능은 소폭 우수했으나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변수 수 증가에 따른 연산 비용과 모델 복잡성이 크게 증가했다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  <a:r>
              <a:rPr lang="en-US" altLang="ko-KR" sz="2000" noProof="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/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max_features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= 15,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max_samples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= 1.0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90777E4-EF69-7ED1-1969-8272E83D7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161220"/>
              </p:ext>
            </p:extLst>
          </p:nvPr>
        </p:nvGraphicFramePr>
        <p:xfrm>
          <a:off x="11337924" y="4533900"/>
          <a:ext cx="5562600" cy="5474888"/>
        </p:xfrm>
        <a:graphic>
          <a:graphicData uri="http://schemas.openxmlformats.org/drawingml/2006/table">
            <a:tbl>
              <a:tblPr/>
              <a:tblGrid>
                <a:gridCol w="2781300">
                  <a:extLst>
                    <a:ext uri="{9D8B030D-6E8A-4147-A177-3AD203B41FA5}">
                      <a16:colId xmlns:a16="http://schemas.microsoft.com/office/drawing/2014/main" val="3410452548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3160208449"/>
                    </a:ext>
                  </a:extLst>
                </a:gridCol>
              </a:tblGrid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모델명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CV Score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500046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-198,423.10 ± 1,724.46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106528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-197,808.06 ± 1,448.34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336803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randomforest_2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-198,002.97 ± 1,839.23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056635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randomforest_3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-167,177.77 ± 989.66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779783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randomforest_4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-166,947.92 ± 946.82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853027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-166,652.42 ± 1,265.78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741778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randomforest_6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-160,550.04 ± 1,018.49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309776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randomforest_7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-160,469.85 ± 984.02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309004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randomforest_8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-160,465.09 ± 1,049.36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659555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randomforest_9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-158,943.30 ± 902.95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490428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-158,791.58 ± 885.89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254075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randomforest_11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-158,834.95 ± 868.23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246191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randomforest_12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-158,495.67 ± 818.65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447592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randomforest_13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-158,464.49 ± 796.34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700405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randomforest_14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-158,467.10 ± 844.78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883052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-158,488.19 ± 786.39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532732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randomforest_16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-158,469.79 ± 780.35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005852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highlight>
                            <a:srgbClr val="FFFF00"/>
                          </a:highlight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randomforest_17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dirty="0">
                          <a:highlight>
                            <a:srgbClr val="FFFF00"/>
                          </a:highlight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-158,460.96 ± 776.46</a:t>
                      </a:r>
                      <a:r>
                        <a:rPr lang="ko-KR" altLang="en-US" sz="1500" dirty="0">
                          <a:highlight>
                            <a:srgbClr val="FFFF00"/>
                          </a:highlight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 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5325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F88009E-54EA-2D32-1644-10ECA7D40947}"/>
              </a:ext>
            </a:extLst>
          </p:cNvPr>
          <p:cNvSpPr txBox="1"/>
          <p:nvPr/>
        </p:nvSpPr>
        <p:spPr>
          <a:xfrm>
            <a:off x="1327152" y="9378434"/>
            <a:ext cx="781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*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본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CV Score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는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(−MAE)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로 기록되어 값이 ‘클수록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(0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에 가까울수록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)’ 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성능이 좋다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.*</a:t>
            </a:r>
            <a:endParaRPr lang="ko-KR" altLang="en-US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F3A6DE-562B-17FC-9D8C-FE8C30BEE114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28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1868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08B1FD-EE9C-028B-7B21-95472BFEE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667AD15-93D0-2434-692E-688DC0526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84A30247-61B1-5F51-C117-EB000D63FC41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모델링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7757D76C-AC65-AFD7-000C-D20992B5BC13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6.5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최종 모델 선정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4B2CA6EE-E82B-F42A-32AF-EB5FFAF86C4A}"/>
              </a:ext>
            </a:extLst>
          </p:cNvPr>
          <p:cNvSpPr txBox="1"/>
          <p:nvPr/>
        </p:nvSpPr>
        <p:spPr>
          <a:xfrm>
            <a:off x="1327150" y="2950426"/>
            <a:ext cx="15792450" cy="35646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7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본 분석에서는 </a:t>
            </a:r>
            <a:r>
              <a:rPr lang="en-US" altLang="ko-KR" sz="27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RandomForest</a:t>
            </a:r>
            <a:r>
              <a:rPr lang="en-US" altLang="ko-KR" sz="27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7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모델을 활용하여 다음 세 가지 설정에 대해 단계적으로 모델링을 수행하였다</a:t>
            </a:r>
            <a:r>
              <a:rPr lang="en-US" altLang="ko-KR" sz="27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Top Features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기반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Grid Search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Top Features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기반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Hyperparameter Tuning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All Columns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기반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Hyperparameter Tuning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7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 별 결과 요약</a:t>
            </a:r>
            <a:endParaRPr lang="en-US" altLang="ko-KR" sz="2700" b="1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8FA8D2F-585F-0B6F-CBCC-9101EB8DA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77646"/>
              </p:ext>
            </p:extLst>
          </p:nvPr>
        </p:nvGraphicFramePr>
        <p:xfrm>
          <a:off x="1327150" y="6362700"/>
          <a:ext cx="7054851" cy="3474720"/>
        </p:xfrm>
        <a:graphic>
          <a:graphicData uri="http://schemas.openxmlformats.org/drawingml/2006/table">
            <a:tbl>
              <a:tblPr/>
              <a:tblGrid>
                <a:gridCol w="2351617">
                  <a:extLst>
                    <a:ext uri="{9D8B030D-6E8A-4147-A177-3AD203B41FA5}">
                      <a16:colId xmlns:a16="http://schemas.microsoft.com/office/drawing/2014/main" val="3231271047"/>
                    </a:ext>
                  </a:extLst>
                </a:gridCol>
                <a:gridCol w="2351617">
                  <a:extLst>
                    <a:ext uri="{9D8B030D-6E8A-4147-A177-3AD203B41FA5}">
                      <a16:colId xmlns:a16="http://schemas.microsoft.com/office/drawing/2014/main" val="4172281188"/>
                    </a:ext>
                  </a:extLst>
                </a:gridCol>
                <a:gridCol w="2351617">
                  <a:extLst>
                    <a:ext uri="{9D8B030D-6E8A-4147-A177-3AD203B41FA5}">
                      <a16:colId xmlns:a16="http://schemas.microsoft.com/office/drawing/2014/main" val="1846835387"/>
                    </a:ext>
                  </a:extLst>
                </a:gridCol>
              </a:tblGrid>
              <a:tr h="37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Top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All Columns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544254"/>
                  </a:ext>
                </a:extLst>
              </a:tr>
              <a:tr h="37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입력 변수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8</a:t>
                      </a:r>
                      <a:r>
                        <a:rPr lang="ko-KR" altLang="en-US" sz="2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224</a:t>
                      </a: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326362"/>
                  </a:ext>
                </a:extLst>
              </a:tr>
              <a:tr h="6702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모델 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핵심 변수 기반 효율적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최대 성능 수준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215481"/>
                  </a:ext>
                </a:extLst>
              </a:tr>
              <a:tr h="37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최적 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42188"/>
                  </a:ext>
                </a:extLst>
              </a:tr>
              <a:tr h="37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highlight>
                            <a:srgbClr val="FFFF00"/>
                          </a:highlight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Test</a:t>
                      </a:r>
                      <a:r>
                        <a:rPr lang="ko-KR" altLang="en-US" sz="2000" dirty="0">
                          <a:highlight>
                            <a:srgbClr val="FFFF00"/>
                          </a:highlight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 </a:t>
                      </a:r>
                      <a:r>
                        <a:rPr lang="en-US" altLang="ko-KR" sz="2000" dirty="0">
                          <a:highlight>
                            <a:srgbClr val="FFFF00"/>
                          </a:highlight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MAE</a:t>
                      </a:r>
                      <a:endParaRPr lang="en-US" sz="2000" dirty="0">
                        <a:highlight>
                          <a:srgbClr val="FFFF00"/>
                        </a:highlight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약 </a:t>
                      </a:r>
                      <a:r>
                        <a:rPr lang="en-US" altLang="ko-KR" sz="2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-179,282</a:t>
                      </a:r>
                      <a:endParaRPr lang="ko-KR" alt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약 </a:t>
                      </a:r>
                      <a:r>
                        <a:rPr lang="en-US" altLang="ko-KR" sz="2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-168,241</a:t>
                      </a:r>
                      <a:endParaRPr lang="ko-KR" alt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04870"/>
                  </a:ext>
                </a:extLst>
              </a:tr>
              <a:tr h="37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성능 수준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준수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가장 우수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720503"/>
                  </a:ext>
                </a:extLst>
              </a:tr>
              <a:tr h="37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연산 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매우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382043"/>
                  </a:ext>
                </a:extLst>
              </a:tr>
              <a:tr h="37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해석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361362"/>
                  </a:ext>
                </a:extLst>
              </a:tr>
            </a:tbl>
          </a:graphicData>
        </a:graphic>
      </p:graphicFrame>
      <p:sp>
        <p:nvSpPr>
          <p:cNvPr id="11" name="TextBox 6">
            <a:extLst>
              <a:ext uri="{FF2B5EF4-FFF2-40B4-BE49-F238E27FC236}">
                <a16:creationId xmlns:a16="http://schemas.microsoft.com/office/drawing/2014/main" id="{5BAE8384-BFF6-3F1B-F577-A77DCBAB6427}"/>
              </a:ext>
            </a:extLst>
          </p:cNvPr>
          <p:cNvSpPr txBox="1"/>
          <p:nvPr/>
        </p:nvSpPr>
        <p:spPr>
          <a:xfrm>
            <a:off x="9223375" y="4732763"/>
            <a:ext cx="7816849" cy="510465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All Columns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모델은 변수 선택을 적용하지 않은 기준 모델로서 데이터가 제공할 수 있는 </a:t>
            </a:r>
            <a:r>
              <a:rPr lang="ko-KR" altLang="en-US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최대 예측 성능</a:t>
            </a:r>
            <a:r>
              <a:rPr lang="en-US" altLang="ko-KR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(upper bound)</a:t>
            </a:r>
            <a:r>
              <a:rPr lang="ko-KR" altLang="en-US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을 확인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하는 데 목적이 있다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해당 모델은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Top Features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 대비 소폭 더 우수한 성능을 보였으나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변수 수 증가에 따른 연산 비용과 모델 복잡성이 크게 증가하였다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0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 algn="ctr">
              <a:lnSpc>
                <a:spcPct val="200000"/>
              </a:lnSpc>
              <a:defRPr/>
            </a:pP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이에 본 분석에서는 전체 컬럼 모델을 성능 상한선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(upper bound)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확인용 기준 모델로 활용하고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실무 적용 가능성과 효율성을 고려하여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Top Features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기반 모델을 주요 분석 결과로 채택하였다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0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>
              <a:lnSpc>
                <a:spcPct val="200000"/>
              </a:lnSpc>
              <a:defRPr/>
            </a:pPr>
            <a:endParaRPr lang="en-US" altLang="ko-KR" sz="20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EFA144-3AF0-E6C7-5E8D-F9B55419071E}"/>
              </a:ext>
            </a:extLst>
          </p:cNvPr>
          <p:cNvSpPr/>
          <p:nvPr/>
        </p:nvSpPr>
        <p:spPr>
          <a:xfrm>
            <a:off x="8991600" y="7734300"/>
            <a:ext cx="8382000" cy="195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7A1BD1-C261-D672-B67C-9436B76BE842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29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638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3B4EA7-DB75-1190-A54C-AF88C88A9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5F5AB41-F521-5896-0D51-2FAFE9A86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99C8FDA4-2297-EA9F-F4A4-5D36496D01DF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모델링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CF26BA5D-71EC-DD88-F7CF-125BD1CC1C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4249410"/>
                  </p:ext>
                </p:extLst>
              </p:nvPr>
            </p:nvGraphicFramePr>
            <p:xfrm>
              <a:off x="3138914" y="3116632"/>
              <a:ext cx="5410200" cy="189447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705100">
                      <a:extLst>
                        <a:ext uri="{9D8B030D-6E8A-4147-A177-3AD203B41FA5}">
                          <a16:colId xmlns:a16="http://schemas.microsoft.com/office/drawing/2014/main" val="430796066"/>
                        </a:ext>
                      </a:extLst>
                    </a:gridCol>
                    <a:gridCol w="2705100">
                      <a:extLst>
                        <a:ext uri="{9D8B030D-6E8A-4147-A177-3AD203B41FA5}">
                          <a16:colId xmlns:a16="http://schemas.microsoft.com/office/drawing/2014/main" val="3261049376"/>
                        </a:ext>
                      </a:extLst>
                    </a:gridCol>
                  </a:tblGrid>
                  <a:tr h="57598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MAE</a:t>
                          </a:r>
                          <a:endParaRPr lang="ko-KR" altLang="en-US" sz="3500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161,181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3759407"/>
                      </a:ext>
                    </a:extLst>
                  </a:tr>
                  <a:tr h="5759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35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NanumBarunGothic" panose="020B0600000101010101" charset="-127"/>
                              <a:ea typeface="NanumBarunGothic" panose="020B0600000101010101" charset="-127"/>
                              <a:cs typeface="+mn-cs"/>
                            </a:rPr>
                            <a:t>RMSE</a:t>
                          </a:r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216,887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519589"/>
                      </a:ext>
                    </a:extLst>
                  </a:tr>
                  <a:tr h="64479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0.7760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60034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CF26BA5D-71EC-DD88-F7CF-125BD1CC1C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4249410"/>
                  </p:ext>
                </p:extLst>
              </p:nvPr>
            </p:nvGraphicFramePr>
            <p:xfrm>
              <a:off x="3138914" y="3116632"/>
              <a:ext cx="5410200" cy="189447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705100">
                      <a:extLst>
                        <a:ext uri="{9D8B030D-6E8A-4147-A177-3AD203B41FA5}">
                          <a16:colId xmlns:a16="http://schemas.microsoft.com/office/drawing/2014/main" val="430796066"/>
                        </a:ext>
                      </a:extLst>
                    </a:gridCol>
                    <a:gridCol w="2705100">
                      <a:extLst>
                        <a:ext uri="{9D8B030D-6E8A-4147-A177-3AD203B41FA5}">
                          <a16:colId xmlns:a16="http://schemas.microsoft.com/office/drawing/2014/main" val="3261049376"/>
                        </a:ext>
                      </a:extLst>
                    </a:gridCol>
                  </a:tblGrid>
                  <a:tr h="624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MAE</a:t>
                          </a:r>
                          <a:endParaRPr lang="ko-KR" altLang="en-US" sz="3500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161,181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3759407"/>
                      </a:ext>
                    </a:extLst>
                  </a:tr>
                  <a:tr h="624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35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NanumBarunGothic" panose="020B0600000101010101" charset="-127"/>
                              <a:ea typeface="NanumBarunGothic" panose="020B0600000101010101" charset="-127"/>
                              <a:cs typeface="+mn-cs"/>
                            </a:rPr>
                            <a:t>RMSE</a:t>
                          </a:r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216,887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519589"/>
                      </a:ext>
                    </a:extLst>
                  </a:tr>
                  <a:tr h="64479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25" t="-208491" r="-100674" b="-311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0.7760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60034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18BF522-07C1-0BB9-4CFF-7A0E0B7EAF37}"/>
              </a:ext>
            </a:extLst>
          </p:cNvPr>
          <p:cNvSpPr txBox="1"/>
          <p:nvPr/>
        </p:nvSpPr>
        <p:spPr>
          <a:xfrm>
            <a:off x="5844014" y="2639789"/>
            <a:ext cx="2705100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Boruta 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이전의 성능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1FB192A-4599-404D-3104-A12C73514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595982"/>
              </p:ext>
            </p:extLst>
          </p:nvPr>
        </p:nvGraphicFramePr>
        <p:xfrm>
          <a:off x="8549114" y="3116631"/>
          <a:ext cx="2705100" cy="18944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3261049376"/>
                    </a:ext>
                  </a:extLst>
                </a:gridCol>
              </a:tblGrid>
              <a:tr h="575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500" b="1" dirty="0">
                          <a:solidFill>
                            <a:schemeClr val="tx1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161,632</a:t>
                      </a:r>
                      <a:endParaRPr lang="ko-KR" altLang="en-US" sz="3500" b="1" dirty="0">
                        <a:solidFill>
                          <a:schemeClr val="tx1"/>
                        </a:solidFill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759407"/>
                  </a:ext>
                </a:extLst>
              </a:tr>
              <a:tr h="575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500" b="1" dirty="0">
                          <a:solidFill>
                            <a:schemeClr val="tx1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217,902</a:t>
                      </a:r>
                      <a:endParaRPr lang="ko-KR" altLang="en-US" sz="3500" b="1" dirty="0">
                        <a:solidFill>
                          <a:schemeClr val="tx1"/>
                        </a:solidFill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519589"/>
                  </a:ext>
                </a:extLst>
              </a:tr>
              <a:tr h="6447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500" b="1" dirty="0">
                          <a:solidFill>
                            <a:schemeClr val="tx1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0.7739</a:t>
                      </a:r>
                      <a:endParaRPr lang="ko-KR" altLang="en-US" sz="3500" b="1" dirty="0">
                        <a:solidFill>
                          <a:schemeClr val="tx1"/>
                        </a:solidFill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0034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D04ECFC-1F1F-7567-A8DD-55DF68946773}"/>
              </a:ext>
            </a:extLst>
          </p:cNvPr>
          <p:cNvSpPr txBox="1"/>
          <p:nvPr/>
        </p:nvSpPr>
        <p:spPr>
          <a:xfrm>
            <a:off x="8549114" y="2639789"/>
            <a:ext cx="2705100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Boruta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 이후의 성능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BADCF0-5438-8197-3211-ACFFF8723359}"/>
              </a:ext>
            </a:extLst>
          </p:cNvPr>
          <p:cNvSpPr txBox="1"/>
          <p:nvPr/>
        </p:nvSpPr>
        <p:spPr>
          <a:xfrm>
            <a:off x="11254214" y="2639789"/>
            <a:ext cx="3314177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&lt;</a:t>
            </a:r>
            <a:r>
              <a:rPr lang="en-US" altLang="ko-KR" sz="2300" b="1" dirty="0" err="1">
                <a:latin typeface="NanumBarunGothic" panose="020B0600000101010101" charset="-127"/>
                <a:ea typeface="NanumBarunGothic" panose="020B0600000101010101" charset="-127"/>
              </a:rPr>
              <a:t>Top_features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 성능 지표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&gt;</a:t>
            </a:r>
            <a:endParaRPr lang="ko-KR" altLang="en-US" sz="2300" b="1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260A2A5-30CC-5B42-0505-C2A536D459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348914"/>
              </p:ext>
            </p:extLst>
          </p:nvPr>
        </p:nvGraphicFramePr>
        <p:xfrm>
          <a:off x="11254213" y="3116630"/>
          <a:ext cx="3314177" cy="18944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14177">
                  <a:extLst>
                    <a:ext uri="{9D8B030D-6E8A-4147-A177-3AD203B41FA5}">
                      <a16:colId xmlns:a16="http://schemas.microsoft.com/office/drawing/2014/main" val="3261049376"/>
                    </a:ext>
                  </a:extLst>
                </a:gridCol>
              </a:tblGrid>
              <a:tr h="575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500" b="1" dirty="0">
                          <a:solidFill>
                            <a:schemeClr val="tx1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179,282</a:t>
                      </a:r>
                      <a:endParaRPr lang="ko-KR" altLang="en-US" sz="3500" b="1" dirty="0">
                        <a:solidFill>
                          <a:schemeClr val="tx1"/>
                        </a:solidFill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759407"/>
                  </a:ext>
                </a:extLst>
              </a:tr>
              <a:tr h="575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500" b="1" dirty="0">
                          <a:solidFill>
                            <a:schemeClr val="tx1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223,944</a:t>
                      </a:r>
                      <a:endParaRPr lang="ko-KR" altLang="en-US" sz="3500" b="1" dirty="0">
                        <a:solidFill>
                          <a:schemeClr val="tx1"/>
                        </a:solidFill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519589"/>
                  </a:ext>
                </a:extLst>
              </a:tr>
              <a:tr h="6447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500" b="1" dirty="0">
                          <a:solidFill>
                            <a:schemeClr val="tx1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0.7498</a:t>
                      </a:r>
                      <a:endParaRPr lang="ko-KR" altLang="en-US" sz="3500" b="1" dirty="0">
                        <a:solidFill>
                          <a:schemeClr val="tx1"/>
                        </a:solidFill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003443"/>
                  </a:ext>
                </a:extLst>
              </a:tr>
            </a:tbl>
          </a:graphicData>
        </a:graphic>
      </p:graphicFrame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8BA57D0-70BE-D68E-FA7F-0C54D953453B}"/>
              </a:ext>
            </a:extLst>
          </p:cNvPr>
          <p:cNvCxnSpPr>
            <a:cxnSpLocks/>
          </p:cNvCxnSpPr>
          <p:nvPr/>
        </p:nvCxnSpPr>
        <p:spPr>
          <a:xfrm flipV="1">
            <a:off x="8549114" y="5225539"/>
            <a:ext cx="0" cy="609518"/>
          </a:xfrm>
          <a:prstGeom prst="straightConnector1">
            <a:avLst/>
          </a:prstGeom>
          <a:ln w="57150">
            <a:solidFill>
              <a:srgbClr val="CC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B27440C-6400-A9DC-CA5A-816D36DB96D3}"/>
              </a:ext>
            </a:extLst>
          </p:cNvPr>
          <p:cNvSpPr txBox="1"/>
          <p:nvPr/>
        </p:nvSpPr>
        <p:spPr>
          <a:xfrm>
            <a:off x="7025114" y="5911257"/>
            <a:ext cx="3048000" cy="86177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500" dirty="0"/>
              <a:t>Training set</a:t>
            </a:r>
            <a:r>
              <a:rPr lang="ko-KR" altLang="en-US" sz="2500" dirty="0"/>
              <a:t>으로 </a:t>
            </a:r>
            <a:endParaRPr lang="en-US" altLang="ko-KR" sz="2500" dirty="0"/>
          </a:p>
          <a:p>
            <a:r>
              <a:rPr lang="ko-KR" altLang="en-US" sz="2500" dirty="0"/>
              <a:t>진행했을 때의 성능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251D04-A1D0-CAD1-FB2E-38F9721603CF}"/>
              </a:ext>
            </a:extLst>
          </p:cNvPr>
          <p:cNvSpPr txBox="1"/>
          <p:nvPr/>
        </p:nvSpPr>
        <p:spPr>
          <a:xfrm>
            <a:off x="11544299" y="5918460"/>
            <a:ext cx="3047999" cy="86177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500" dirty="0"/>
              <a:t>Test set</a:t>
            </a:r>
            <a:r>
              <a:rPr lang="ko-KR" altLang="en-US" sz="2500" dirty="0"/>
              <a:t>으로 </a:t>
            </a:r>
            <a:endParaRPr lang="en-US" altLang="ko-KR" sz="2500" dirty="0"/>
          </a:p>
          <a:p>
            <a:r>
              <a:rPr lang="ko-KR" altLang="en-US" sz="2500" dirty="0"/>
              <a:t>진행했을 때의 성능</a:t>
            </a: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E2087666-93A1-CD8B-B136-CA17C00295B2}"/>
              </a:ext>
            </a:extLst>
          </p:cNvPr>
          <p:cNvSpPr txBox="1"/>
          <p:nvPr/>
        </p:nvSpPr>
        <p:spPr>
          <a:xfrm>
            <a:off x="939800" y="1913363"/>
            <a:ext cx="13004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6.6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모델링 결과 </a:t>
            </a: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종합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42769B-13FD-30D5-AB24-08A194262521}"/>
              </a:ext>
            </a:extLst>
          </p:cNvPr>
          <p:cNvSpPr txBox="1"/>
          <p:nvPr/>
        </p:nvSpPr>
        <p:spPr>
          <a:xfrm>
            <a:off x="3138914" y="2639789"/>
            <a:ext cx="2705100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ko-KR" altLang="en-US" sz="2300" b="1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577B2962-968A-D8C1-4810-16C71E276A01}"/>
                  </a:ext>
                </a:extLst>
              </p14:cNvPr>
              <p14:cNvContentPartPr/>
              <p14:nvPr/>
            </p14:nvContentPartPr>
            <p14:xfrm>
              <a:off x="5891548" y="5009777"/>
              <a:ext cx="5344560" cy="36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577B2962-968A-D8C1-4810-16C71E276A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55548" y="4937777"/>
                <a:ext cx="54162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0A6BFAAE-0A19-72DC-D310-FB2B654AA1D5}"/>
                  </a:ext>
                </a:extLst>
              </p14:cNvPr>
              <p14:cNvContentPartPr/>
              <p14:nvPr/>
            </p14:nvContentPartPr>
            <p14:xfrm>
              <a:off x="11301628" y="5009777"/>
              <a:ext cx="360" cy="36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0A6BFAAE-0A19-72DC-D310-FB2B654AA1D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265628" y="4937777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B83FE049-5BEB-6750-9B6F-3FDF29160C76}"/>
                  </a:ext>
                </a:extLst>
              </p14:cNvPr>
              <p14:cNvContentPartPr/>
              <p14:nvPr/>
            </p14:nvContentPartPr>
            <p14:xfrm>
              <a:off x="11301628" y="5009777"/>
              <a:ext cx="3250800" cy="36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B83FE049-5BEB-6750-9B6F-3FDF29160C7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65624" y="4937777"/>
                <a:ext cx="3322448" cy="144000"/>
              </a:xfrm>
              <a:prstGeom prst="rect">
                <a:avLst/>
              </a:prstGeom>
            </p:spPr>
          </p:pic>
        </mc:Fallback>
      </mc:AlternateContent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30539EE-ECD0-B964-D656-C8CA9712F136}"/>
              </a:ext>
            </a:extLst>
          </p:cNvPr>
          <p:cNvCxnSpPr>
            <a:cxnSpLocks/>
          </p:cNvCxnSpPr>
          <p:nvPr/>
        </p:nvCxnSpPr>
        <p:spPr>
          <a:xfrm flipV="1">
            <a:off x="13068299" y="5196963"/>
            <a:ext cx="0" cy="638094"/>
          </a:xfrm>
          <a:prstGeom prst="straightConnector1">
            <a:avLst/>
          </a:prstGeom>
          <a:ln w="5715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393E734-B404-74A4-DE7A-704263A0F97A}"/>
              </a:ext>
            </a:extLst>
          </p:cNvPr>
          <p:cNvSpPr txBox="1"/>
          <p:nvPr/>
        </p:nvSpPr>
        <p:spPr>
          <a:xfrm>
            <a:off x="1327150" y="7170368"/>
            <a:ext cx="15792450" cy="2702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MAE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는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‘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실제 값과 </a:t>
            </a:r>
            <a:r>
              <a:rPr lang="ko-KR" altLang="en-US" sz="2300" b="1" dirty="0" err="1">
                <a:latin typeface="NanumBarunGothic" panose="020B0600000101010101" charset="-127"/>
                <a:ea typeface="NanumBarunGothic" panose="020B0600000101010101" charset="-127"/>
              </a:rPr>
              <a:t>예측값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 절대 오차의 </a:t>
            </a:r>
            <a:r>
              <a:rPr lang="ko-KR" altLang="en-US" sz="2300" b="1" dirty="0" err="1">
                <a:latin typeface="NanumBarunGothic" panose="020B0600000101010101" charset="-127"/>
                <a:ea typeface="NanumBarunGothic" panose="020B0600000101010101" charset="-127"/>
              </a:rPr>
              <a:t>평균’으로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예측 오차를 원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(₩) 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단위로 해석할 수 있는 지표다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b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본 모델의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Test set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기준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MAE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는 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179,282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원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으로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평균적으로 약 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18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만원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 정도의 오차가 발생한다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[ RV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일시불 잔액의 평균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약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150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만원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)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대비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MAE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는 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약 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12%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수준이다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. ]</a:t>
            </a:r>
            <a:b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Boruta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전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후 성능은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Training set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기준으로 산출되어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Test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성능보다 높게 나타날 수 있으나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Top features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모델도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Test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에서 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R² 0.75 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수준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을 유지해 변수 축소 이후에도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 예측력이 유의미함을 확인했다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endParaRPr lang="ko-KR" altLang="en-US" sz="2300" b="1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BF6CC07-2B8D-B984-7D80-A7D7E80752E8}"/>
              </a:ext>
            </a:extLst>
          </p:cNvPr>
          <p:cNvSpPr/>
          <p:nvPr/>
        </p:nvSpPr>
        <p:spPr>
          <a:xfrm>
            <a:off x="1327150" y="7221453"/>
            <a:ext cx="15792450" cy="26515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2E878-BAA2-54DC-D9E0-7DD607E22D96}"/>
              </a:ext>
            </a:extLst>
          </p:cNvPr>
          <p:cNvSpPr txBox="1"/>
          <p:nvPr/>
        </p:nvSpPr>
        <p:spPr>
          <a:xfrm>
            <a:off x="15862300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92156-7C01-4741-A957-7304AE3E49E4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30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275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1617</TotalTime>
  <Words>3607</Words>
  <Application>Microsoft Office PowerPoint</Application>
  <PresentationFormat>사용자 지정</PresentationFormat>
  <Paragraphs>610</Paragraphs>
  <Slides>30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7" baseType="lpstr">
      <vt:lpstr>Arial</vt:lpstr>
      <vt:lpstr>맑은 고딕</vt:lpstr>
      <vt:lpstr>NanumBarunGothic Bold</vt:lpstr>
      <vt:lpstr>NanumBarunGothic</vt:lpstr>
      <vt:lpstr>Cambria Math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Jongyun</dc:creator>
  <cp:lastModifiedBy>김종윤</cp:lastModifiedBy>
  <cp:revision>107</cp:revision>
  <dcterms:created xsi:type="dcterms:W3CDTF">2006-08-16T00:00:00Z</dcterms:created>
  <dcterms:modified xsi:type="dcterms:W3CDTF">2026-01-07T09:50:07Z</dcterms:modified>
</cp:coreProperties>
</file>