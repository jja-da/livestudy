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3" r:id="rId4"/>
    <p:sldId id="281" r:id="rId5"/>
    <p:sldId id="282" r:id="rId6"/>
    <p:sldId id="283" r:id="rId7"/>
    <p:sldId id="284" r:id="rId8"/>
    <p:sldId id="285" r:id="rId9"/>
    <p:sldId id="286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96" r:id="rId27"/>
    <p:sldId id="297" r:id="rId28"/>
    <p:sldId id="298" r:id="rId29"/>
    <p:sldId id="299" r:id="rId30"/>
    <p:sldId id="300" r:id="rId31"/>
    <p:sldId id="303" r:id="rId32"/>
    <p:sldId id="301" r:id="rId33"/>
    <p:sldId id="304" r:id="rId34"/>
    <p:sldId id="305" r:id="rId35"/>
    <p:sldId id="306" r:id="rId36"/>
  </p:sldIdLst>
  <p:sldSz cx="18288000" cy="10287000"/>
  <p:notesSz cx="6858000" cy="9144000"/>
  <p:embeddedFontLst>
    <p:embeddedFont>
      <p:font typeface="NanumBarunGothic" panose="020B0600000101010101" charset="-127"/>
      <p:regular r:id="rId37"/>
    </p:embeddedFont>
    <p:embeddedFont>
      <p:font typeface="NanumBarunGothic Bold" panose="020B0600000101010101" charset="-127"/>
      <p:bold r:id="rId38"/>
    </p:embeddedFont>
    <p:embeddedFont>
      <p:font typeface="Cambria Math" panose="02040503050406030204" pitchFamily="18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3" d="100"/>
          <a:sy n="93" d="100"/>
        </p:scale>
        <p:origin x="3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18.763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0,'464'0,"-459"0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38.222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1,'471'0,"-466"0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29:47.181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1,'668'0,"-663"0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34.959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1,'0'713,"0"-707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43.890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45.385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47.452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50.410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1:52.208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31T12:32:11.860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0,'0'1151,"0"-2258,0 2244,0-1127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hub.or.kr/aihubdata/data/view.do?srchOptnCnd=OPTNCND001&amp;currMenu=115&amp;topMenu=100&amp;searchKeyword=&#44552;&#50997;&amp;aihubDataSe=data&amp;dataSetSn=7179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5.xml"/><Relationship Id="rId18" Type="http://schemas.openxmlformats.org/officeDocument/2006/relationships/customXml" Target="../ink/ink9.xml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9.png"/><Relationship Id="rId19" Type="http://schemas.openxmlformats.org/officeDocument/2006/relationships/customXml" Target="../ink/ink10.xml"/><Relationship Id="rId4" Type="http://schemas.openxmlformats.org/officeDocument/2006/relationships/image" Target="../media/image6.png"/><Relationship Id="rId9" Type="http://schemas.openxmlformats.org/officeDocument/2006/relationships/customXml" Target="../ink/ink3.xml"/><Relationship Id="rId1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63850" y="3314700"/>
            <a:ext cx="11226800" cy="439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02089"/>
              </a:lnSpc>
            </a:pPr>
            <a:r>
              <a:rPr lang="en-US" altLang="ko-KR" sz="6000" spc="100" dirty="0">
                <a:solidFill>
                  <a:srgbClr val="000000"/>
                </a:solidFill>
                <a:ea typeface="NanumBarunGothic Bold"/>
              </a:rPr>
              <a:t>[</a:t>
            </a:r>
            <a:r>
              <a:rPr lang="ko-KR" altLang="en-US" sz="6000" spc="100" dirty="0">
                <a:solidFill>
                  <a:srgbClr val="000000"/>
                </a:solidFill>
                <a:ea typeface="NanumBarunGothic Bold"/>
              </a:rPr>
              <a:t>금융데이터</a:t>
            </a:r>
            <a:r>
              <a:rPr lang="en-US" altLang="ko-KR" sz="6000" spc="100" dirty="0">
                <a:solidFill>
                  <a:srgbClr val="000000"/>
                </a:solidFill>
                <a:ea typeface="NanumBarunGothic Bold"/>
              </a:rPr>
              <a:t>]</a:t>
            </a:r>
            <a:endParaRPr lang="ko-KR" altLang="ko-KR" sz="6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endParaRPr lang="en-US" altLang="ko-KR" sz="3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endParaRPr lang="en-US" altLang="ko-KR" sz="3000" spc="100" dirty="0">
              <a:solidFill>
                <a:srgbClr val="000000"/>
              </a:solidFill>
              <a:ea typeface="NanumBarunGothic Bold"/>
            </a:endParaRPr>
          </a:p>
          <a:p>
            <a:pPr lvl="0" algn="ctr">
              <a:lnSpc>
                <a:spcPct val="102089"/>
              </a:lnSpc>
            </a:pPr>
            <a:r>
              <a:rPr lang="ko-KR" altLang="en-US" sz="6000" spc="100" dirty="0">
                <a:solidFill>
                  <a:srgbClr val="000000"/>
                </a:solidFill>
                <a:ea typeface="NanumBarunGothic Bold"/>
              </a:rPr>
              <a:t>라이브 포트폴리오 보고서</a:t>
            </a:r>
            <a:endParaRPr lang="en-US" altLang="ko-KR" sz="6000" spc="100" dirty="0">
              <a:solidFill>
                <a:srgbClr val="000000"/>
              </a:solidFill>
              <a:ea typeface="NanumBarunGothic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909800" y="8724900"/>
            <a:ext cx="22098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just">
              <a:lnSpc>
                <a:spcPct val="116199"/>
              </a:lnSpc>
            </a:pPr>
            <a:r>
              <a:rPr lang="ko-KR" altLang="en-US" sz="3500" i="0" u="none" strike="noStrike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김종윤</a:t>
            </a:r>
            <a:endParaRPr lang="en-US" sz="3500" i="0" u="none" strike="noStrike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0725" y="498475"/>
            <a:ext cx="7756525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NanumBarunGothic"/>
              </a:rPr>
              <a:t>메타코드</a:t>
            </a:r>
            <a:r>
              <a:rPr lang="en-US" altLang="ko-KR" sz="3000" b="1" dirty="0">
                <a:solidFill>
                  <a:srgbClr val="000000"/>
                </a:solidFill>
                <a:latin typeface="NanumBarunGothic"/>
              </a:rPr>
              <a:t>M</a:t>
            </a:r>
          </a:p>
          <a:p>
            <a:pPr lvl="0">
              <a:lnSpc>
                <a:spcPct val="116199"/>
              </a:lnSpc>
            </a:pPr>
            <a:r>
              <a:rPr lang="ko-KR" altLang="en-US" sz="3000" b="1" dirty="0">
                <a:solidFill>
                  <a:srgbClr val="000000"/>
                </a:solidFill>
                <a:latin typeface="NanumBarunGothic"/>
              </a:rPr>
              <a:t>라이브 스터디</a:t>
            </a:r>
            <a:endParaRPr lang="en-US" sz="3000" b="1" i="0" u="none" strike="noStrike" dirty="0">
              <a:solidFill>
                <a:srgbClr val="000000"/>
              </a:solidFill>
              <a:latin typeface="NanumBarunGothic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4E31BE3-3D8E-8984-7531-BEA675BDB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3114A-31F4-FF11-41DD-CD760AEE8491}"/>
              </a:ext>
            </a:extLst>
          </p:cNvPr>
          <p:cNvSpPr txBox="1"/>
          <p:nvPr/>
        </p:nvSpPr>
        <p:spPr>
          <a:xfrm>
            <a:off x="15928538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835400"/>
            <a:ext cx="7493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5410200"/>
            <a:ext cx="7493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6997700"/>
            <a:ext cx="7493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8585200"/>
            <a:ext cx="7493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3797300"/>
            <a:ext cx="7493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5372100"/>
            <a:ext cx="749300" cy="38100"/>
          </a:xfrm>
          <a:prstGeom prst="rect">
            <a:avLst/>
          </a:prstGeom>
        </p:spPr>
      </p:pic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35716"/>
              </p:ext>
            </p:extLst>
          </p:nvPr>
        </p:nvGraphicFramePr>
        <p:xfrm>
          <a:off x="2819400" y="2781300"/>
          <a:ext cx="12344400" cy="6426200"/>
        </p:xfrm>
        <a:graphic>
          <a:graphicData uri="http://schemas.openxmlformats.org/drawingml/2006/table">
            <a:tbl>
              <a:tblPr/>
              <a:tblGrid>
                <a:gridCol w="1857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01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프로젝트 개요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05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변수 선택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02</a:t>
                      </a:r>
                      <a:endParaRPr lang="en-US" sz="300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도메인 </a:t>
                      </a:r>
                      <a:r>
                        <a:rPr lang="en-US" altLang="ko-KR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/ </a:t>
                      </a: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비즈니스 이해</a:t>
                      </a:r>
                      <a:endParaRPr lang="en-US" altLang="ko-KR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06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anumBarunGothic" panose="020B0600000101010101" charset="-127"/>
                          <a:ea typeface="NanumBarunGothic" panose="020B0600000101010101" charset="-127"/>
                          <a:cs typeface="+mn-cs"/>
                        </a:rPr>
                        <a:t>모델링</a:t>
                      </a:r>
                      <a:endParaRPr kumimoji="0" lang="en-US" altLang="ko-KR" sz="3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NanumBarunGothic" panose="020B0600000101010101" charset="-127"/>
                        <a:ea typeface="NanumBarunGothic" panose="020B0600000101010101" charset="-127"/>
                        <a:cs typeface="+mn-cs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03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데이터 </a:t>
                      </a:r>
                      <a:r>
                        <a:rPr lang="en-US" altLang="ko-KR" sz="3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Overview &amp; EDA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07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비즈니스 임팩트</a:t>
                      </a:r>
                      <a:r>
                        <a:rPr lang="en-US" altLang="ko-KR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&amp;</a:t>
                      </a:r>
                    </a:p>
                    <a:p>
                      <a:pPr lvl="0" algn="l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실행 인사이트</a:t>
                      </a:r>
                      <a:endParaRPr lang="en-US" altLang="ko-KR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04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전처리</a:t>
                      </a: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</a:t>
                      </a:r>
                      <a:r>
                        <a:rPr lang="en-US" altLang="ko-KR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&amp; </a:t>
                      </a:r>
                      <a:r>
                        <a:rPr lang="ko-KR" altLang="en-US" sz="3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파생변수 설계</a:t>
                      </a: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00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3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939800" y="723900"/>
            <a:ext cx="15494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0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 Bold"/>
                <a:cs typeface="+mn-cs"/>
              </a:rPr>
              <a:t>목차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4F707-4F56-47F8-5989-CA788CCFEF15}"/>
              </a:ext>
            </a:extLst>
          </p:cNvPr>
          <p:cNvSpPr txBox="1"/>
          <p:nvPr/>
        </p:nvSpPr>
        <p:spPr>
          <a:xfrm>
            <a:off x="15928538" y="9731988"/>
            <a:ext cx="18923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/>
                <a:ea typeface="+mn-ea"/>
                <a:cs typeface="+mn-cs"/>
              </a:rPr>
              <a:t>2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90D58CDD-FA57-0FBB-622B-AD98C136B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00" y="7016750"/>
            <a:ext cx="7493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5B22D-7732-6883-0705-D553979E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11746CC-9E04-3B97-537E-A74D1D44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3059A84-29F9-1D6F-3BE6-4DFA3BA3B5FA}"/>
              </a:ext>
            </a:extLst>
          </p:cNvPr>
          <p:cNvSpPr txBox="1"/>
          <p:nvPr/>
        </p:nvSpPr>
        <p:spPr>
          <a:xfrm>
            <a:off x="1327150" y="2933700"/>
            <a:ext cx="1579245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 err="1"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(RV)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일시불 잔액은 고객의 유동성을 높이는 동시에 카드사 관점에서는 연체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부실로 전이될 수 있는 핵심 관리 지표다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를 이용하는 고객은 돈의 유동성은 높아지지만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카드사 관점에서는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잔액이 누적될수록 연체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부실로 전이될 가능성이 커져 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선제적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관리가 필요하다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00000"/>
              </a:lnSpc>
              <a:defRPr/>
            </a:pPr>
            <a:r>
              <a:rPr lang="ko-KR" altLang="en-US" sz="2500" dirty="0">
                <a:latin typeface="NanumBarunGothic" panose="020B0600000101010101" charset="-127"/>
                <a:ea typeface="NanumBarunGothic" panose="020B0600000101010101" charset="-127"/>
              </a:rPr>
              <a:t>본 프로젝트는 </a:t>
            </a:r>
            <a:r>
              <a:rPr lang="en-US" altLang="ko-KR" sz="2500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500" dirty="0">
                <a:latin typeface="NanumBarunGothic" panose="020B0600000101010101" charset="-127"/>
                <a:ea typeface="NanumBarunGothic" panose="020B0600000101010101" charset="-127"/>
              </a:rPr>
              <a:t>일시불 잔액 증가에 영향을 주는 고객 행동</a:t>
            </a:r>
            <a:r>
              <a:rPr lang="en-US" altLang="ko-KR" sz="2500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500" dirty="0">
                <a:latin typeface="NanumBarunGothic" panose="020B0600000101010101" charset="-127"/>
                <a:ea typeface="NanumBarunGothic" panose="020B0600000101010101" charset="-127"/>
              </a:rPr>
              <a:t>신용 특성을 규명해</a:t>
            </a:r>
            <a:endParaRPr lang="en-US" altLang="ko-KR" sz="25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00000"/>
              </a:lnSpc>
              <a:defRPr/>
            </a:pPr>
            <a:r>
              <a:rPr lang="en-US" altLang="ko-KR" sz="25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500" dirty="0" err="1">
                <a:latin typeface="NanumBarunGothic" panose="020B0600000101010101" charset="-127"/>
                <a:ea typeface="NanumBarunGothic" panose="020B0600000101010101" charset="-127"/>
              </a:rPr>
              <a:t>선제적</a:t>
            </a:r>
            <a:r>
              <a:rPr lang="ko-KR" altLang="en-US" sz="2500" dirty="0">
                <a:latin typeface="NanumBarunGothic" panose="020B0600000101010101" charset="-127"/>
                <a:ea typeface="NanumBarunGothic" panose="020B0600000101010101" charset="-127"/>
              </a:rPr>
              <a:t> 관리가 필요한 고객군을 조기 식별하는 근거를 마련하는 것을 목적으로 한다</a:t>
            </a:r>
            <a:r>
              <a:rPr lang="en-US" altLang="ko-KR" sz="25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D15646-7143-CBF0-B1F2-7416393FD8E5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1.1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프로젝트 배경 및 문제 정의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F8F638A-7FBF-63FF-2F0A-0B74E6AE891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EEB654-8ED8-CE11-5098-786465D82473}"/>
              </a:ext>
            </a:extLst>
          </p:cNvPr>
          <p:cNvSpPr/>
          <p:nvPr/>
        </p:nvSpPr>
        <p:spPr>
          <a:xfrm>
            <a:off x="1327150" y="6134100"/>
            <a:ext cx="15792450" cy="2387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93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FAF69-ABD8-F776-3473-E26160E8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5D6836-5B09-33E7-F01F-805E53337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03D030B-AE60-1641-5A1A-DFA7C4A8724A}"/>
              </a:ext>
            </a:extLst>
          </p:cNvPr>
          <p:cNvSpPr txBox="1"/>
          <p:nvPr/>
        </p:nvSpPr>
        <p:spPr>
          <a:xfrm>
            <a:off x="1247775" y="3543300"/>
            <a:ext cx="15792450" cy="52187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일시불 잔액에 영향을 미치는 핵심 요인을 식별한다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가설검정과 모델링을 결합해 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일시불 잔액을 설명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예측한다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914400" lvl="1" indent="-457200">
              <a:lnSpc>
                <a:spcPct val="300000"/>
              </a:lnSpc>
              <a:buFont typeface="+mj-lt"/>
              <a:buAutoNum type="arabicPeriod"/>
              <a:defRPr/>
            </a:pP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중심으로 성능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–</a:t>
            </a:r>
            <a:r>
              <a:rPr lang="ko-KR" altLang="en-US" sz="2500" b="1" dirty="0">
                <a:latin typeface="NanumBarunGothic" panose="020B0600000101010101" charset="-127"/>
                <a:ea typeface="NanumBarunGothic" panose="020B0600000101010101" charset="-127"/>
              </a:rPr>
              <a:t>효율 트레이드오프를 정리해 운영 가능한 인사이트를 제시한다</a:t>
            </a:r>
            <a:r>
              <a:rPr lang="en-US" altLang="ko-KR" sz="2500" b="1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lang="en-US" altLang="ko-KR" sz="25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68630C-7B78-3B39-69FC-923C2533658C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1.2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프로젝트 목표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2FF5F1-7FF0-0DA1-164B-7920174806B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77248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38F2B-5D0D-2AB2-72DE-E07182C5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31AF8A5-5574-5360-1928-CA944D7D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558448D-5632-2886-D42B-A508E1E7F48F}"/>
              </a:ext>
            </a:extLst>
          </p:cNvPr>
          <p:cNvSpPr txBox="1"/>
          <p:nvPr/>
        </p:nvSpPr>
        <p:spPr>
          <a:xfrm>
            <a:off x="1327150" y="2643187"/>
            <a:ext cx="15792450" cy="735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2018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년 고객 카드 이용 정보</a:t>
            </a: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신용 관련 지표</a:t>
            </a:r>
            <a:r>
              <a:rPr lang="en-US" altLang="ko-KR" sz="2400" b="1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400" b="1" dirty="0" err="1"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 잔액 데이터를 활용하여 진행</a:t>
            </a:r>
            <a:endParaRPr lang="en-US" altLang="ko-KR" sz="24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전체 데이터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에서</a:t>
            </a:r>
            <a:r>
              <a:rPr lang="en-US" altLang="ko-KR" sz="22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‘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</a:t>
            </a:r>
            <a:r>
              <a:rPr kumimoji="0" lang="ko-KR" alt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리볼빙일시불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_B0M’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0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이상인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고객만 선별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=  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현재 </a:t>
            </a:r>
            <a:r>
              <a:rPr kumimoji="0" lang="ko-KR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리볼빙을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이용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하고 있는 고객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training set : 10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월의 데이터를 활용하여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의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`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</a:t>
            </a:r>
            <a:r>
              <a:rPr kumimoji="0" lang="ko-KR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리볼빙일시불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_B0M`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를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타겟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으로 삼음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test set : 11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월의 데이터를 활용하여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월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의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`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</a:t>
            </a:r>
            <a:r>
              <a:rPr kumimoji="0" lang="ko-KR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리볼빙일시불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_B0M`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를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타겟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으로 삼음</a:t>
            </a:r>
            <a:endParaRPr lang="en-US" altLang="ko-KR" sz="10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2">
              <a:lnSpc>
                <a:spcPct val="150000"/>
              </a:lnSpc>
              <a:defRPr/>
            </a:pP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b="1" dirty="0">
                <a:latin typeface="NanumBarunGothic" panose="020B0600000101010101" charset="-127"/>
                <a:ea typeface="NanumBarunGothic" panose="020B0600000101010101" charset="-127"/>
              </a:rPr>
              <a:t>접근 구성</a:t>
            </a:r>
            <a:endParaRPr lang="en-US" altLang="ko-KR" sz="24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데이터 이해 및 탐색적 분석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(EDA)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을 통해 변수 분포와 타겟 특성 파악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도메인 이해 및 가설 설정을 바탕으로 한 </a:t>
            </a:r>
            <a:r>
              <a:rPr lang="ko-KR" altLang="en-US" sz="2200" b="1" dirty="0">
                <a:latin typeface="NanumBarunGothic" panose="020B0600000101010101" charset="-127"/>
                <a:ea typeface="NanumBarunGothic" panose="020B0600000101010101" charset="-127"/>
              </a:rPr>
              <a:t>파생변수 설계</a:t>
            </a:r>
            <a:endParaRPr lang="en-US" altLang="ko-KR" sz="2200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통계적 가설 검정을 통한 변수의 유의성 및 관계 검증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Feature Selection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기법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(Boruta, Feature Importance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등</a:t>
            </a: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을 활용한 변수 축소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latin typeface="NanumBarunGothic" panose="020B0600000101010101" charset="-127"/>
                <a:ea typeface="NanumBarunGothic" panose="020B0600000101010101" charset="-127"/>
              </a:rPr>
              <a:t>ML </a:t>
            </a: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모델을 활용한 예측 및 비교 분석</a:t>
            </a:r>
            <a:endParaRPr lang="en-US" altLang="ko-KR" sz="22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200" dirty="0">
                <a:latin typeface="NanumBarunGothic" panose="020B0600000101010101" charset="-127"/>
                <a:ea typeface="NanumBarunGothic" panose="020B0600000101010101" charset="-127"/>
              </a:rPr>
              <a:t>모델 결과를 기반으로 한 </a:t>
            </a:r>
            <a:r>
              <a:rPr lang="ko-KR" altLang="en-US" sz="2200" b="1" dirty="0">
                <a:latin typeface="NanumBarunGothic" panose="020B0600000101010101" charset="-127"/>
                <a:ea typeface="NanumBarunGothic" panose="020B0600000101010101" charset="-127"/>
              </a:rPr>
              <a:t>비즈니스 임팩트 및 활용 시나리오 도출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						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*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출처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:         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hlinkClick r:id="rId3"/>
              </a:rPr>
              <a:t>AI-Hub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770A65-7AF6-00BA-1306-98445ACC2A60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1.3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분석 범위 및 접근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BC8B037-6592-120C-666E-545FA6B448C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2322D6-BE5B-B584-B568-F4861FA41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1412" y="9486900"/>
            <a:ext cx="4095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59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09329-2401-1547-FB8A-4C49F4D6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1A8C80-038D-60CD-77F1-297018297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4988B2F-7F55-33DB-9822-CE2FC492CA60}"/>
              </a:ext>
            </a:extLst>
          </p:cNvPr>
          <p:cNvSpPr txBox="1"/>
          <p:nvPr/>
        </p:nvSpPr>
        <p:spPr>
          <a:xfrm>
            <a:off x="1327150" y="2933700"/>
            <a:ext cx="15792450" cy="701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4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과다 증가 가능 고객의 조기 식별 기준 제시</a:t>
            </a:r>
            <a:endParaRPr lang="en-US" altLang="ko-KR" sz="24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조정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안내 캠페인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 유도 정책 등 운영 전략의 근거 확보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리스크 관리와 수익성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정상 상환 고객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관점의 균형 있는 고객 관리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597D7F0-2B13-4735-1459-4D5EA8A18D6B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1.4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기대효과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9F1ACD-F9E9-A4F7-3C96-8D71C0AC1B5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1467173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94496-04AB-5B41-4BAA-A3082041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4EA5F9-170C-40A6-DF53-8D8B14F5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604F1B0-8F6E-FBE6-7065-BB74E27882CD}"/>
              </a:ext>
            </a:extLst>
          </p:cNvPr>
          <p:cNvSpPr txBox="1"/>
          <p:nvPr/>
        </p:nvSpPr>
        <p:spPr>
          <a:xfrm>
            <a:off x="1327150" y="2933700"/>
            <a:ext cx="1579245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marR="0" lvl="1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RV(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리볼빙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는 결제 후 상환 단계에서 일부만 상환하고 잔액을 이월하는 방식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이자 발생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즉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는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결제 단계에서 선택되는 결제 수단이 아니라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결제 이후 상환 단계에서 적용되는 방식이라는 점에서 할부나 카드론과 구분된다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marL="800100" marR="0" lvl="1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를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선택한 고객은 결제일에 일정 비율 또는 최소 금액만 상환하게 되며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상환되지 않은 금액은 이월되어 이자가 부과된다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이로 인해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잔액은 고객의 카드 사용 패턴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상환 성향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신용 상태에 따라 누적적으로 증가하거나 감소할 수 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R="0" lvl="1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R="0" lvl="1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본 프로젝트에서 분석 대상으로 설정한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리볼빙일시불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_B0M’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은 이러한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구조 하에서 일시불 결제 금액 중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약정을 통해 이월된 금액 중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기준 월 시점까지 상환되지 않고 남아 있는 잔액을 의미한다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이는 고객의 실제 상환 부담이 누적된 상태를 직접적으로 반영하는 지표로 볼 수 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88F6056-7317-8280-765C-AF4D01C36DE7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2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.1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신용카드 </a:t>
            </a:r>
            <a:r>
              <a:rPr kumimoji="0" lang="ko-KR" altLang="en-US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리볼빙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구조에 대한 이해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6C26FFD-38F0-3A3C-904A-FAEF393BA9CB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2.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도메인 </a:t>
            </a: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/ 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비즈니스 이해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9ADB4E-896E-EB39-919A-F90FC825D126}"/>
              </a:ext>
            </a:extLst>
          </p:cNvPr>
          <p:cNvSpPr/>
          <p:nvPr/>
        </p:nvSpPr>
        <p:spPr>
          <a:xfrm>
            <a:off x="1327150" y="6057900"/>
            <a:ext cx="15792450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00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6F29B-F5B8-7C51-AB83-703AE3B9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A045DC-FC17-474E-F2DE-D89A7061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CD020964-A6BB-06B6-8E81-38B1871B01FF}"/>
              </a:ext>
            </a:extLst>
          </p:cNvPr>
          <p:cNvSpPr txBox="1"/>
          <p:nvPr/>
        </p:nvSpPr>
        <p:spPr>
          <a:xfrm>
            <a:off x="1327150" y="2933700"/>
            <a:ext cx="1563370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고객 유동성을 높이지만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카드사에는 연체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부실로 전이될 수 있는 관리 지표다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동시에 정상 상환이 지속되는 고객군에서는 이자 수익을 만드는 수익 기여 지표이기도 하다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 algn="ctr">
              <a:lnSpc>
                <a:spcPct val="20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따라서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잔액은 ‘위험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/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수익’으로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단순 이분화하기보다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200000"/>
              </a:lnSpc>
              <a:defRPr/>
            </a:pPr>
            <a:r>
              <a:rPr lang="ko-KR" altLang="en-US" sz="2400" dirty="0"/>
              <a:t>금액의 절대적 수치만 보지 않고 한도</a:t>
            </a:r>
            <a:r>
              <a:rPr lang="en-US" altLang="ko-KR" sz="2400" dirty="0"/>
              <a:t>·</a:t>
            </a:r>
            <a:r>
              <a:rPr lang="ko-KR" altLang="en-US" sz="2400" dirty="0"/>
              <a:t>이용규모</a:t>
            </a:r>
            <a:r>
              <a:rPr lang="en-US" altLang="ko-KR" sz="2400" dirty="0"/>
              <a:t>·</a:t>
            </a:r>
            <a:r>
              <a:rPr lang="ko-KR" altLang="en-US" sz="2400" dirty="0"/>
              <a:t>상환행태와 함께 해석해야 한다</a:t>
            </a:r>
            <a:r>
              <a:rPr lang="en-US" altLang="ko-KR" sz="2400" dirty="0"/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894CC66-73B3-775A-AE9B-27DC380C7670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2.2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카드사 관점에서의 </a:t>
            </a:r>
            <a:r>
              <a:rPr lang="en-US" altLang="ko-KR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잔액의 의미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D56033E-64F0-BF6A-8E05-50418AC6C2B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2.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도메인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/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비즈니스 이해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B637A6-7A99-FCC0-A674-5AA93D12516C}"/>
              </a:ext>
            </a:extLst>
          </p:cNvPr>
          <p:cNvSpPr/>
          <p:nvPr/>
        </p:nvSpPr>
        <p:spPr>
          <a:xfrm>
            <a:off x="1297468" y="5924652"/>
            <a:ext cx="15822131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86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3523F-BA81-69A5-7F53-49A0FA73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EBE167-5D79-51AB-CEC8-286A5580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7E59293-2D1E-96C3-F84C-55B5F905285E}"/>
              </a:ext>
            </a:extLst>
          </p:cNvPr>
          <p:cNvSpPr txBox="1"/>
          <p:nvPr/>
        </p:nvSpPr>
        <p:spPr>
          <a:xfrm>
            <a:off x="1327150" y="2933700"/>
            <a:ext cx="1579245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잔액은 고객의 한도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이용규모에 의해 자연스럽게 달라지므로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금액의 절대적 크기만으로 고객 간 위험도를 비교하는 데 한계가 있다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예를 들어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한도가 큰 고객의 고액 </a:t>
            </a: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은 관리 가능한 수준일 수 있지만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</a:t>
            </a: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한도가 작은 고객의 소액 </a:t>
            </a: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은 상대적으로 </a:t>
            </a:r>
            <a:r>
              <a:rPr kumimoji="0" lang="ko-KR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더 높은 부담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위험 신호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일 수 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본 프로젝트는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잔액을 ‘절대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금액’이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아니라 한도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등 ‘상대 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지표’와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결합해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고객 간 상대적 위험도를 더 정교하게 구분하는 관점에서 분석을 진행한다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2223C53-6A76-AB70-02F2-A02D83C0BC47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2.3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단순 잔액 기준의 한계와 상대적 위험도 관점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9254AE-2217-3D86-ABE6-59FA25BF8ED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2.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도메인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/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비즈니스 이해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CA6C7B-8BC4-417C-AC1B-1000F9EF2D6A}"/>
              </a:ext>
            </a:extLst>
          </p:cNvPr>
          <p:cNvSpPr/>
          <p:nvPr/>
        </p:nvSpPr>
        <p:spPr>
          <a:xfrm>
            <a:off x="1247775" y="6896100"/>
            <a:ext cx="15792450" cy="1981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20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06DC2-62BC-0E6F-A29A-671324E4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385AD3E-6433-2070-18FE-9CE384CB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9B2486B-188A-6B8F-7A60-901840CE5467}"/>
              </a:ext>
            </a:extLst>
          </p:cNvPr>
          <p:cNvSpPr txBox="1"/>
          <p:nvPr/>
        </p:nvSpPr>
        <p:spPr>
          <a:xfrm>
            <a:off x="1327150" y="2933700"/>
            <a:ext cx="1579245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본 프로젝트에서 사용한 데이터는 월별 신용카드 이용 정보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고객 신용 관련 지표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잔액 정보 등을 포함하는 고객 단위 데이터로 구성되어 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각 관측치는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2018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년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10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월을 중심으로 고객의 카드 이용 행태 및 신용 상태를 나타내며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본 분석에서는 기준 월 다음 달의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일시불 잔액을 예측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·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설명하는 것을 목표로 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lvl="1" algn="just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just">
              <a:lnSpc>
                <a:spcPct val="150000"/>
              </a:lnSpc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 algn="just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분석의 초점을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이용 고객에 맞추기 위해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전체 데이터 중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</a:t>
            </a:r>
            <a:r>
              <a:rPr kumimoji="0" lang="ko-KR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리볼빙일시불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_B0M’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값이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보다 큰 고객만을 분석 대상으로 선별하였다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실제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을 이용하지 않는 고객을 포함할 경우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분석 목적과 무관한 노이즈가 증가할 수 있다고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판단했다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1A588B0-B3BF-066C-BC77-9E6F79612453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데이터 구성 및 분석 대상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0B6C40-FEC3-562F-4FD3-B21F7690DE6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3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3E7D4F-2434-9BC2-5144-F6EE862ED27D}"/>
              </a:ext>
            </a:extLst>
          </p:cNvPr>
          <p:cNvSpPr/>
          <p:nvPr/>
        </p:nvSpPr>
        <p:spPr>
          <a:xfrm>
            <a:off x="1327150" y="6057900"/>
            <a:ext cx="15792450" cy="2209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31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8A312-F64B-B312-6952-AFE7BA1B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A6C8C52-261B-13DA-2BBE-F55429E0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D85A3E0-DFB3-4F60-F33F-1FF0E3E28BD8}"/>
              </a:ext>
            </a:extLst>
          </p:cNvPr>
          <p:cNvSpPr txBox="1"/>
          <p:nvPr/>
        </p:nvSpPr>
        <p:spPr>
          <a:xfrm>
            <a:off x="1327150" y="2933700"/>
            <a:ext cx="1579245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카드 이용 관련 변수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일시불 이용금액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승인 매출 정보 등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신용 및 한도 관련 변수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카드 한도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300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신용 등급 관련 지표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과거 </a:t>
            </a:r>
            <a:r>
              <a:rPr lang="ko-KR" altLang="en-US" sz="2300" dirty="0" err="1"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 및 상환 이력 변수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이전 기간 </a:t>
            </a:r>
            <a:r>
              <a:rPr lang="ko-KR" altLang="en-US" sz="2300" dirty="0" err="1"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 잔액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상환 금액 등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이러한 변수들은 고객의 카드 사용 규모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상환 성향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신용 상태를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다각도로 반영할 수 있도록 설계된 원천 변수들로 구성되어 있다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1D7A848-3629-33F1-A7C1-766A27587B4B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</a:t>
            </a: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주요 변수 구성 및 특성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DA856FB-1939-C00B-2AD8-1F5D52A6199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985C81-3335-BF2A-8C84-42C249D0FD51}"/>
              </a:ext>
            </a:extLst>
          </p:cNvPr>
          <p:cNvSpPr/>
          <p:nvPr/>
        </p:nvSpPr>
        <p:spPr>
          <a:xfrm>
            <a:off x="1336675" y="5829300"/>
            <a:ext cx="15792450" cy="2209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32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36679-9A3A-2312-93FA-79CE8338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EB862B0-A30E-0FA7-4A8D-0C1DE367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542AFBA-D78C-B88D-ADEF-52E8782F5635}"/>
              </a:ext>
            </a:extLst>
          </p:cNvPr>
          <p:cNvSpPr txBox="1"/>
          <p:nvPr/>
        </p:nvSpPr>
        <p:spPr>
          <a:xfrm>
            <a:off x="1327150" y="2933700"/>
            <a:ext cx="1579245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marR="0" lvl="1" indent="-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잔액 분포는 오른쪽으로 긴 꼬리를 갖는 비대칭 분포를 보이며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일부 고객에게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잔액이 집중되는 경향이 확인되었다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lvl="2">
              <a:lnSpc>
                <a:spcPct val="200000"/>
              </a:lnSpc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이는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잔액이 특정 고객군에 누적되는 특성을 지니고 있음을 시사한다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(2018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10 _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단위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백만원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A97D49-8C66-5FF4-0C31-40121EA2FA4B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</a:t>
            </a: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4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178C8E-B2C1-FAF1-02EB-DE204E133CF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pic>
        <p:nvPicPr>
          <p:cNvPr id="5" name="그림 4" descr="도표, 텍스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A551BD-9C60-07F7-58E7-9DF86D890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4330700"/>
            <a:ext cx="7696200" cy="5541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1751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4F856-8020-1008-1E67-C7E6867C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4B75DA-18A8-E96B-F825-C8595B82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FBF9E8E-3706-F723-2CC2-D1A070948093}"/>
              </a:ext>
            </a:extLst>
          </p:cNvPr>
          <p:cNvSpPr txBox="1"/>
          <p:nvPr/>
        </p:nvSpPr>
        <p:spPr>
          <a:xfrm>
            <a:off x="1327150" y="2933700"/>
            <a:ext cx="15894050" cy="210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>
              <a:lnSpc>
                <a:spcPct val="150000"/>
              </a:lnSpc>
              <a:defRPr/>
            </a:pPr>
            <a:r>
              <a:rPr kumimoji="0" lang="en-US" altLang="ko-KR" sz="23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2.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상관관계 분석 결과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카드 이용 금액 및 이용 건수와 같은 이용 규모 변수들은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잔액과의 상관관계가 제한적인 반면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수준 및 한도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관련 변수들은 상대적으로 더 높은 양의 상관관계를 보였다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   다만 동일한 한도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수준 내에서도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잔액의 분산이 크게 나타나기 때문에 단일 변수만으로는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   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 수준을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충분히 설명하기 어려움을 확인하였다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20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00000"/>
              </a:lnSpc>
              <a:defRPr/>
            </a:pPr>
            <a:r>
              <a:rPr kumimoji="0" lang="en-US" altLang="ko-KR" sz="23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34BA7D-ED36-E27D-B782-E67F4B89C6AE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3.4 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E45FA7-2284-1794-2B36-E47BE33EADF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pic>
        <p:nvPicPr>
          <p:cNvPr id="4" name="그림 3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7697F8-8F20-FF1C-AF2C-4AE878620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041900"/>
            <a:ext cx="5638800" cy="5124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2645D8-6CAD-6313-D995-B0F87D95A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041899"/>
            <a:ext cx="7696200" cy="5124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EF0C783-481F-72EA-9C4F-B4F20367C357}"/>
                  </a:ext>
                </a:extLst>
              </p14:cNvPr>
              <p14:cNvContentPartPr/>
              <p14:nvPr/>
            </p14:nvContentPartPr>
            <p14:xfrm>
              <a:off x="6779774" y="5431543"/>
              <a:ext cx="169200" cy="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EF0C783-481F-72EA-9C4F-B4F20367C3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44134" y="5359543"/>
                <a:ext cx="240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A42753D-331A-60C0-B927-D153148B4748}"/>
                  </a:ext>
                </a:extLst>
              </p14:cNvPr>
              <p14:cNvContentPartPr/>
              <p14:nvPr/>
            </p14:nvContentPartPr>
            <p14:xfrm>
              <a:off x="4915694" y="5424352"/>
              <a:ext cx="171360" cy="3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A42753D-331A-60C0-B927-D153148B47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79694" y="5352712"/>
                <a:ext cx="243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A3ECD6B-399B-0F6B-2B85-FDADB122D865}"/>
                  </a:ext>
                </a:extLst>
              </p14:cNvPr>
              <p14:cNvContentPartPr/>
              <p14:nvPr/>
            </p14:nvContentPartPr>
            <p14:xfrm>
              <a:off x="3933974" y="5424352"/>
              <a:ext cx="242280" cy="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A3ECD6B-399B-0F6B-2B85-FDADB122D8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97974" y="5352712"/>
                <a:ext cx="313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0AEF15ED-68C4-C984-8EF6-E16D41E5C4FB}"/>
                  </a:ext>
                </a:extLst>
              </p14:cNvPr>
              <p14:cNvContentPartPr/>
              <p14:nvPr/>
            </p14:nvContentPartPr>
            <p14:xfrm>
              <a:off x="6853339" y="9252139"/>
              <a:ext cx="360" cy="25920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0AEF15ED-68C4-C984-8EF6-E16D41E5C4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17339" y="9180499"/>
                <a:ext cx="720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5DF80968-C6F2-3072-B8B1-C5CBAB821F0B}"/>
                  </a:ext>
                </a:extLst>
              </p14:cNvPr>
              <p14:cNvContentPartPr/>
              <p14:nvPr/>
            </p14:nvContentPartPr>
            <p14:xfrm>
              <a:off x="4984219" y="9235939"/>
              <a:ext cx="360" cy="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5DF80968-C6F2-3072-B8B1-C5CBAB821F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48579" y="916429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DF1987E4-AF18-9DE1-B087-7104236741B0}"/>
                  </a:ext>
                </a:extLst>
              </p14:cNvPr>
              <p14:cNvContentPartPr/>
              <p14:nvPr/>
            </p14:nvContentPartPr>
            <p14:xfrm>
              <a:off x="4984219" y="9256099"/>
              <a:ext cx="360" cy="3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DF1987E4-AF18-9DE1-B087-7104236741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48579" y="918445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CE6C0BEF-95EB-0F81-020A-0939199D4ADB}"/>
                  </a:ext>
                </a:extLst>
              </p14:cNvPr>
              <p14:cNvContentPartPr/>
              <p14:nvPr/>
            </p14:nvContentPartPr>
            <p14:xfrm>
              <a:off x="4984219" y="9239899"/>
              <a:ext cx="36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CE6C0BEF-95EB-0F81-020A-0939199D4AD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48579" y="916825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DA9512A9-6386-1D2A-5F56-4D06DC913FEA}"/>
                  </a:ext>
                </a:extLst>
              </p14:cNvPr>
              <p14:cNvContentPartPr/>
              <p14:nvPr/>
            </p14:nvContentPartPr>
            <p14:xfrm>
              <a:off x="4984219" y="9252139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DA9512A9-6386-1D2A-5F56-4D06DC913F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48579" y="918049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C29DADD9-B91F-0352-3F86-1D5725B9654F}"/>
                  </a:ext>
                </a:extLst>
              </p14:cNvPr>
              <p14:cNvContentPartPr/>
              <p14:nvPr/>
            </p14:nvContentPartPr>
            <p14:xfrm>
              <a:off x="4984219" y="9267979"/>
              <a:ext cx="360" cy="3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C29DADD9-B91F-0352-3F86-1D5725B965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48579" y="919633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0827ADE0-42C9-C728-09D4-54E53C9D979C}"/>
                  </a:ext>
                </a:extLst>
              </p14:cNvPr>
              <p14:cNvContentPartPr/>
              <p14:nvPr/>
            </p14:nvContentPartPr>
            <p14:xfrm>
              <a:off x="4082059" y="9075739"/>
              <a:ext cx="360" cy="42912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0827ADE0-42C9-C728-09D4-54E53C9D979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46419" y="9003739"/>
                <a:ext cx="72000" cy="57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874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CA168-47D4-439D-9E92-25636C9B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EAD5BCA-1338-66C2-6D2E-22939D76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20CB341-353A-143E-5558-AAC73751C502}"/>
              </a:ext>
            </a:extLst>
          </p:cNvPr>
          <p:cNvSpPr txBox="1"/>
          <p:nvPr/>
        </p:nvSpPr>
        <p:spPr>
          <a:xfrm>
            <a:off x="1327150" y="2933700"/>
            <a:ext cx="15894050" cy="586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1">
              <a:lnSpc>
                <a:spcPct val="150000"/>
              </a:lnSpc>
              <a:defRPr/>
            </a:pPr>
            <a:r>
              <a:rPr lang="ko-KR" altLang="en-US" sz="2300" b="1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결론</a:t>
            </a:r>
            <a:endParaRPr lang="en-US" altLang="ko-KR" sz="2300" b="1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altLang="ko-KR" sz="2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: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EDA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결과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잔액은 특정 단일 변수와의 일대일 관계로 설명되기보다는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여러 요인이 동시에 작용한 결과로 형성되는 특성을 보였다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이에 따라 이후 분석에서는 개별 변수의 단순한 영향 분석을 넘어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간 구조적 관계를 반영할 수 있는 분석 설계가 필요하다고 </a:t>
            </a: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판단하였다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본 프로젝트에서는 이러한 문제의식을 바탕으로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활용 구조와 상환 행동을 함께 고려한 파생변수를 설계하고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</a:t>
            </a:r>
          </a:p>
          <a:p>
            <a:pPr lvl="1" algn="ctr">
              <a:lnSpc>
                <a:spcPct val="150000"/>
              </a:lnSpc>
              <a:defRPr/>
            </a:pP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다변량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분석 기법을 활용하여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잔액에 영향을 미치는 주요 요인들을 종합적으로 분석하고자 한다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45720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DBB011-4D39-D961-D61F-075861AF5CEE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3.4 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E5EBE6-34ED-8815-4C95-A61C9A24EE9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데이터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Overview &amp; EDA</a:t>
            </a: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335EB9-F5D4-C9CB-0582-CEDF856F8877}"/>
              </a:ext>
            </a:extLst>
          </p:cNvPr>
          <p:cNvSpPr/>
          <p:nvPr/>
        </p:nvSpPr>
        <p:spPr>
          <a:xfrm>
            <a:off x="1336675" y="5829300"/>
            <a:ext cx="1579245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541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3AB6C-999C-AEDE-57BE-189CCF39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503B3F7-D8E6-8CDC-0F33-6B60473AD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417548B-FAA1-1026-0F18-E11DE8A9F081}"/>
              </a:ext>
            </a:extLst>
          </p:cNvPr>
          <p:cNvSpPr txBox="1"/>
          <p:nvPr/>
        </p:nvSpPr>
        <p:spPr>
          <a:xfrm>
            <a:off x="1327150" y="2933700"/>
            <a:ext cx="15894050" cy="586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앞선 탐색적 데이터 분석을 통해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잔액은 카드 이용 금액과 같은 단일 변수만으로는 충분히 설명되기 어렵고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여러 요인이 동시에 작용하는 구조적 특성을 지닌 변수임을 확인하였다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이에 따라 본 프로젝트에서는 단순한 데이터 정제 수준을 넘어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이후 파생변수 설계 및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다변량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분석에 적합한 형태로 데이터를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전처리하는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것을 목표로 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본 분석에서는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잔액을 실제로 보유한 고객의 특성을 집중적으로 분석하기 위해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타겟 변수인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`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_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리볼빙일시불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_B0M`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값이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보다 큰 고객만을 분석 대상으로 선별하였다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이는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를 이용하지 않는 고객을 포함할 경우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목적과 직접적인 관련이 없는 관측치가 증가하여 모델 해석 및 결과 해석에 혼선을 줄 수 있다고 판단했기 때문이다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또한 변수 간 관계 해석 및 이후 분석의 안정성을 확보하기 위해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극단적인 이상치가 분석 결과에 과도한 영향을 미치지 않도록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기본적인 데이터 정제 과정을 수행하였다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이러한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전처리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전략은 모델 성능의 극대화보다는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잔액 형성 구조를 보다 명확히 이해하고 도메인 관점의 해석 가능성을 높이는 데 목적이 있다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78292D5-FB0A-7620-7586-770D9B97C4AE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4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분석 목적을 반영한 </a:t>
            </a:r>
            <a:r>
              <a:rPr kumimoji="0" lang="ko-KR" altLang="en-US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전처리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전략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A420EB-668E-1C20-8EEA-26BE6F72569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4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.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전처리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&amp;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파생변수 설계</a:t>
            </a:r>
            <a:endParaRPr kumimoji="0" lang="en-US" altLang="ko-KR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04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545BB-44EC-8FCC-A962-5A06CBC3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C663CE-CF66-E945-3B72-E48033F1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3E5DBDC-E4BF-D54D-CDD8-8EF381391AC9}"/>
              </a:ext>
            </a:extLst>
          </p:cNvPr>
          <p:cNvSpPr txBox="1"/>
          <p:nvPr/>
        </p:nvSpPr>
        <p:spPr>
          <a:xfrm>
            <a:off x="1327150" y="2933700"/>
            <a:ext cx="15894050" cy="693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탐색적 데이터 분석 결과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소진율은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 양의 상관관계를 보였으나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동일한 한도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수준에서도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잔액의 분산이 크게 나타나 한도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하나의 변수만으로는 고객의 실제 상환 부담 수준을 충분히 설명하기 어렵다는 한계를 확인하였다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이에 따라 본 프로젝트에서는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 한도 소진율이 동시에 높은 경우에 고객의 부담이 구조적으로 확대될 수 있다는 도메인적 가정 하에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두 변수의 상호작용을 반영한 파생변수를 설계하였다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구체적으로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 한도 소진율을 곱한 값을 새로운 파생변수로 정의하여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고객의 </a:t>
            </a:r>
            <a:r>
              <a:rPr lang="ko-KR" altLang="en-US" sz="23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리볼빙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부담을 한도 대비 상대적 관점에서 표현하고자 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파생변수는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잔액의 절대 규모와 한도 활용 수준을 동시에 반영함으로써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잔액이 크더라도 한도 소진율이 낮은 고객과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 한도 소진율이 모두 높은 고객을 구분할 수 있도록 설계되었다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이를 통해 단순 잔액 기준이나 단일 비율 지표로는 포착하기 어려운 고객 간 이질성을 보다 구조적으로 반영하고자 하였다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A711190-2D29-AD4D-79CC-DF56D169C6C9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4.</a:t>
            </a: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2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활용 구조와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일시불 잔액의 상호작용 파생변수 설계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06D65E-E1DD-B97E-993C-3107F4D042C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4.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전처리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&amp;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파생변수 설계</a:t>
            </a:r>
            <a:endParaRPr kumimoji="0" lang="en-US" altLang="ko-KR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6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1238C-FEE1-5978-C2F3-82F7D910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5B9205-B3D0-2ACA-091F-7F01270E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45689E4-4A76-2006-B842-03367BAED80E}"/>
              </a:ext>
            </a:extLst>
          </p:cNvPr>
          <p:cNvSpPr txBox="1"/>
          <p:nvPr/>
        </p:nvSpPr>
        <p:spPr>
          <a:xfrm>
            <a:off x="939800" y="2806700"/>
            <a:ext cx="8197850" cy="693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단계에서의 문제 인식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카드 이용금액보다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한도 관련 컬럼들이 </a:t>
            </a:r>
            <a:r>
              <a:rPr lang="en-US" altLang="ko-KR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일시불 잔액과 더 높은 상관관계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를 보임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이 관계가 단순 우연이 아닌지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통계적으로 확인할 필요성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 제기</a:t>
            </a:r>
            <a:b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</a:b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1: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000" b="1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 그룹별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잔액의 평균 차이 검증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한도 소진율을 저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중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고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개 그룹으로 구분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그룹 간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일시불 잔액 평균에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유의미한 차이가 존재함을 확인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한도 활용 수준이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 형성과 관련 있음을 통계적으로 확인</a:t>
            </a: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2: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한도 소진율이 증가할수록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잔액도 증가하는가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?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한도 소진율과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일시불 잔액 간 관계를 검증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한도 소진율이 높아질수록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잔액이 커지는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양의 관계가 유의미함을 확인</a:t>
            </a:r>
            <a:endParaRPr lang="en-US" altLang="ko-KR" b="1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F4D949-C2AE-AE78-9F0D-E7356C4AEE71}"/>
              </a:ext>
            </a:extLst>
          </p:cNvPr>
          <p:cNvSpPr txBox="1"/>
          <p:nvPr/>
        </p:nvSpPr>
        <p:spPr>
          <a:xfrm>
            <a:off x="939800" y="2146300"/>
            <a:ext cx="143764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4.</a:t>
            </a: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3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파생변수 가설 검정 흐름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517AE4-EEA1-77A5-BE21-B1569FAB5FE4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4.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전처리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&amp;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파생변수 설계</a:t>
            </a:r>
            <a:endParaRPr kumimoji="0" lang="en-US" altLang="ko-KR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F2342EA-62EC-E1DF-B52C-DA4F6B1CFE7E}"/>
              </a:ext>
            </a:extLst>
          </p:cNvPr>
          <p:cNvSpPr txBox="1"/>
          <p:nvPr/>
        </p:nvSpPr>
        <p:spPr>
          <a:xfrm>
            <a:off x="9137650" y="2806700"/>
            <a:ext cx="8197850" cy="693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추가 문제 인식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동일 </a:t>
            </a:r>
            <a:r>
              <a:rPr lang="ko-KR" altLang="en-US" sz="2000" b="1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 내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잔액 분산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동일한 한도 </a:t>
            </a:r>
            <a:r>
              <a:rPr lang="ko-KR" altLang="en-US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 수준에서도 고객별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 차이가 크게 나타남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단일 변수만으로는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상대적 </a:t>
            </a:r>
            <a:r>
              <a:rPr lang="en-US" altLang="ko-KR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부담 수준을 설명하기 어렵다는 한계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 확인</a:t>
            </a: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2+@: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상호작용 파생변수의 필요성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상대적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부담을 표현하기 위해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en-US" altLang="ko-KR" b="1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일시불 잔액 </a:t>
            </a:r>
            <a:r>
              <a:rPr lang="en-US" altLang="ko-KR" b="1" dirty="0">
                <a:latin typeface="NanumBarunGothic" panose="020B0600000101010101" charset="-127"/>
                <a:ea typeface="NanumBarunGothic" panose="020B0600000101010101" charset="-127"/>
              </a:rPr>
              <a:t>×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b="1" dirty="0" err="1"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 파생변수 설계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파생변수가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잔액과 더 강한 관계를 가짐을 통계적으로 확인</a:t>
            </a: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b="1" dirty="0">
                <a:latin typeface="NanumBarunGothic" panose="020B0600000101010101" charset="-127"/>
                <a:ea typeface="NanumBarunGothic" panose="020B0600000101010101" charset="-127"/>
              </a:rPr>
              <a:t>3: </a:t>
            </a:r>
            <a:r>
              <a:rPr lang="ko-KR" altLang="en-US" sz="2000" b="1" dirty="0">
                <a:latin typeface="NanumBarunGothic" panose="020B0600000101010101" charset="-127"/>
                <a:ea typeface="NanumBarunGothic" panose="020B0600000101010101" charset="-127"/>
              </a:rPr>
              <a:t>이용금액 기반 가설의 기각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신용 이용금액과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 간 관계는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통계적으로는 유의하나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실질적인 설명력은 거의 없음</a:t>
            </a:r>
            <a:b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</a:b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→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잔액은 단순 이용 규모보다 </a:t>
            </a:r>
            <a:r>
              <a:rPr lang="ko-KR" altLang="en-US" b="1" dirty="0">
                <a:latin typeface="NanumBarunGothic" panose="020B0600000101010101" charset="-127"/>
                <a:ea typeface="NanumBarunGothic" panose="020B0600000101010101" charset="-127"/>
              </a:rPr>
              <a:t>한도 활용 구조 중심으로 해석해야 함을 재확인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9449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BA607-CF09-5B30-4138-FA919532B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F87127-53B0-89A8-7CCE-ABAA11FE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0C1E0B4-8A2F-19F9-2986-B00DC5C3EFB0}"/>
              </a:ext>
            </a:extLst>
          </p:cNvPr>
          <p:cNvSpPr txBox="1"/>
          <p:nvPr/>
        </p:nvSpPr>
        <p:spPr>
          <a:xfrm>
            <a:off x="1327150" y="2933700"/>
            <a:ext cx="15633700" cy="60569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소진율이 높을수록 신용 한도의 여유가 줄어들어 현금 흐름에 압박을 받을 수 있고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이로 인한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이용 가능성이 커질 수 있다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그래서 한도 소진율을 저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중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고소진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그룹으로 나누고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각 그룹별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잔액의 평균을 비교하여 차이가 있는지 통계적으로 확인하고자 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1">
              <a:lnSpc>
                <a:spcPct val="250000"/>
              </a:lnSpc>
            </a:pP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0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기준 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50000"/>
              </a:lnSpc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                   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&lt;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저소진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그룹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50%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이하 그룹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        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중간소진 그룹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: 50 ~ 80%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이하인 그룹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,          </a:t>
            </a:r>
            <a:r>
              <a:rPr lang="ko-KR" altLang="en-US" sz="20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고소진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그룹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: 80%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초과인 그룹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</a:p>
          <a:p>
            <a:pPr marL="800100" lvl="1" indent="-342900">
              <a:lnSpc>
                <a:spcPct val="250000"/>
              </a:lnSpc>
              <a:buFontTx/>
              <a:buChar char="-"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구분 기준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: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	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50% 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이하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=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‘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내가 가진 한도의 절반 이하를 소비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’.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일반적으로 상황 여력 충분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= ‘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안정 구간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’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판단 가능</a:t>
            </a:r>
            <a:endParaRPr lang="en-US" altLang="ko-KR" sz="20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50000"/>
              </a:lnSpc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	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80%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초과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= ‘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내가 가진 한도의 대부분을 사용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’.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추가 소비 여력 부족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=RV or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연체 가능성이 있는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‘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경고 구간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’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판단 가능</a:t>
            </a:r>
            <a:endParaRPr lang="en-US" altLang="ko-KR" sz="2000" dirty="0">
              <a:solidFill>
                <a:srgbClr val="000000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50000"/>
              </a:lnSpc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	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 </a:t>
            </a:r>
            <a:r>
              <a:rPr lang="ko-KR" altLang="en-US" sz="2000" dirty="0" err="1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소진율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50~80%   = ‘</a:t>
            </a:r>
            <a:r>
              <a:rPr lang="ko-KR" altLang="en-US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관찰 구간</a:t>
            </a:r>
            <a:r>
              <a:rPr lang="en-US" altLang="ko-KR" sz="20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07A891C-0F88-2049-1FEF-6A4BC58D7613}"/>
              </a:ext>
            </a:extLst>
          </p:cNvPr>
          <p:cNvSpPr txBox="1"/>
          <p:nvPr/>
        </p:nvSpPr>
        <p:spPr>
          <a:xfrm>
            <a:off x="939800" y="214630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가설 내용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167DCF5-7B09-5945-7EC9-B7CE6EE0FF1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한도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소진율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그룹 별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잔액의 평균 차이</a:t>
            </a:r>
          </a:p>
        </p:txBody>
      </p:sp>
    </p:spTree>
    <p:extLst>
      <p:ext uri="{BB962C8B-B14F-4D97-AF65-F5344CB8AC3E}">
        <p14:creationId xmlns:p14="http://schemas.microsoft.com/office/powerpoint/2010/main" val="1235553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B44FD-DC13-BB7B-F202-35C544CD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0D1A1E-2434-6E31-8E0B-B327BFBC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003C254-DE4D-7759-4524-A3AC32F82733}"/>
              </a:ext>
            </a:extLst>
          </p:cNvPr>
          <p:cNvSpPr txBox="1"/>
          <p:nvPr/>
        </p:nvSpPr>
        <p:spPr>
          <a:xfrm>
            <a:off x="1327150" y="2698750"/>
            <a:ext cx="156337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각 집단의 평균을 계산해서 세 집단의 평균값의 차이가 유의미하게 있는지 확인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( ANOVA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이용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 )</a:t>
            </a:r>
            <a:endParaRPr lang="ko-KR" altLang="en-US" sz="23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9DA53F-5923-9D73-0ECF-685E345829E2}"/>
              </a:ext>
            </a:extLst>
          </p:cNvPr>
          <p:cNvSpPr txBox="1"/>
          <p:nvPr/>
        </p:nvSpPr>
        <p:spPr>
          <a:xfrm>
            <a:off x="939800" y="214320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A79F24-C8D4-2368-9678-A9B32B7E5EE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1.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한도 </a:t>
            </a:r>
            <a:r>
              <a:rPr kumimoji="0" lang="ko-KR" altLang="en-US" sz="45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소진율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그룹 별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잔액의 평균 차이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E45C748-1229-0C61-EC44-0BDDBDDC8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436119"/>
              </p:ext>
            </p:extLst>
          </p:nvPr>
        </p:nvGraphicFramePr>
        <p:xfrm>
          <a:off x="1993126" y="5881494"/>
          <a:ext cx="7385052" cy="3289300"/>
        </p:xfrm>
        <a:graphic>
          <a:graphicData uri="http://schemas.openxmlformats.org/drawingml/2006/table">
            <a:tbl>
              <a:tblPr/>
              <a:tblGrid>
                <a:gridCol w="184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Util_group</a:t>
                      </a:r>
                      <a:endParaRPr lang="en-US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Count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Median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저소진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(≤50%) 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34,831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1,093,416.63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1,078,508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중간소진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(50~80%)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40411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1,393,797.35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1,403,173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 dirty="0" err="1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고소진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(&gt;80%)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8161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1,533,565.14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1,529,936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58FC4292-6165-065D-0891-FF4B2B583927}"/>
              </a:ext>
            </a:extLst>
          </p:cNvPr>
          <p:cNvSpPr txBox="1"/>
          <p:nvPr/>
        </p:nvSpPr>
        <p:spPr>
          <a:xfrm>
            <a:off x="939800" y="376044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41D5D95-4B47-B196-86C2-9771CB029BC4}"/>
              </a:ext>
            </a:extLst>
          </p:cNvPr>
          <p:cNvSpPr txBox="1"/>
          <p:nvPr/>
        </p:nvSpPr>
        <p:spPr>
          <a:xfrm>
            <a:off x="1327150" y="4211444"/>
            <a:ext cx="1579245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ANOVA </a:t>
            </a:r>
            <a:r>
              <a:rPr lang="en-US" altLang="ko-KR" sz="2000" dirty="0" err="1">
                <a:latin typeface="NanumBarunGothic" panose="020B0600000101010101" charset="-127"/>
                <a:ea typeface="NanumBarunGothic" panose="020B0600000101010101" charset="-127"/>
              </a:rPr>
              <a:t>F_stat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 :   7773.92425824263	,      </a:t>
            </a:r>
            <a:r>
              <a:rPr lang="en-US" altLang="ko-KR" sz="2000" dirty="0" err="1">
                <a:latin typeface="NanumBarunGothic" panose="020B0600000101010101" charset="-127"/>
                <a:ea typeface="NanumBarunGothic" panose="020B0600000101010101" charset="-127"/>
              </a:rPr>
              <a:t>p_value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 : 0.0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ANOVA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결과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p-value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가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에 근접하므로 유의수준 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0.05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에서 귀무가설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세 집단의 평균이 동일하다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를 기각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 즉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latin typeface="NanumBarunGothic" panose="020B0600000101010101" charset="-127"/>
                <a:ea typeface="NanumBarunGothic" panose="020B0600000101010101" charset="-127"/>
              </a:rPr>
              <a:t>적어도 한 그룹의 평균은 다르다</a:t>
            </a:r>
            <a:r>
              <a:rPr lang="en-US" altLang="ko-KR" sz="20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lang="ko-KR" altLang="en-US" sz="2000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9" name="그림 8" descr="도표, 텍스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0409B4-8CE6-AF52-D700-3F41CAD71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5886140"/>
            <a:ext cx="6227686" cy="4142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26164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B8975-5FA8-DF69-1F77-7CEEEC2F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170F02D-F2BB-08B2-47A1-C59ACF0B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C7A375C-9464-1B0F-63FC-6DEF70E4D951}"/>
              </a:ext>
            </a:extLst>
          </p:cNvPr>
          <p:cNvSpPr txBox="1"/>
          <p:nvPr/>
        </p:nvSpPr>
        <p:spPr>
          <a:xfrm>
            <a:off x="1291837" y="3563122"/>
            <a:ext cx="15633700" cy="145337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1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에서 적어도 한 그룹은 다르다는 것을 확인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그렇다면 한도 소진율이 커질수록 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커지는 관계를 가지고 있나</a:t>
            </a:r>
            <a:r>
              <a:rPr lang="en-US" altLang="ko-KR" sz="23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?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E3F31F-AA65-8ECA-22D9-049E250C26FB}"/>
              </a:ext>
            </a:extLst>
          </p:cNvPr>
          <p:cNvSpPr txBox="1"/>
          <p:nvPr/>
        </p:nvSpPr>
        <p:spPr>
          <a:xfrm>
            <a:off x="906346" y="255270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 내용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507CE2C-217E-1350-1C70-803357D171A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2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한도 소진율과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 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간의 관계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31CE71C-6FEE-AF81-9066-FC7D1B738FAF}"/>
              </a:ext>
            </a:extLst>
          </p:cNvPr>
          <p:cNvSpPr txBox="1"/>
          <p:nvPr/>
        </p:nvSpPr>
        <p:spPr>
          <a:xfrm>
            <a:off x="1325291" y="6906788"/>
            <a:ext cx="15633700" cy="15213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한도 소진율과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잔액 간의 상관분석을 진행</a:t>
            </a:r>
            <a:endParaRPr lang="en-US" altLang="ko-KR" sz="2300" dirty="0"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Pearson 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가설의 관계가 선형적인가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?  Spearman :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증가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/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감소 방향 확인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D636419-C6CB-3388-55F4-DDE4F39D59B5}"/>
              </a:ext>
            </a:extLst>
          </p:cNvPr>
          <p:cNvSpPr txBox="1"/>
          <p:nvPr/>
        </p:nvSpPr>
        <p:spPr>
          <a:xfrm>
            <a:off x="939800" y="597024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검증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424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C4701-2B62-D523-2A55-6639033A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A6214B8-E863-200D-6001-3654A360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C97E89A2-2092-8B5A-B7DD-F19F8226518E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2089"/>
              </a:lnSpc>
              <a:defRPr/>
            </a:pP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ea typeface="NanumBarunGothic"/>
              </a:rPr>
              <a:t>2. 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한도 </a:t>
            </a:r>
            <a:r>
              <a:rPr lang="ko-KR" altLang="en-US" sz="4500" b="1" spc="100" dirty="0" err="1">
                <a:solidFill>
                  <a:srgbClr val="000000"/>
                </a:solidFill>
                <a:ea typeface="NanumBarunGothic"/>
              </a:rPr>
              <a:t>소진율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 </a:t>
            </a:r>
            <a:r>
              <a:rPr lang="en-US" altLang="ko-KR" sz="4500" b="1" spc="100" dirty="0">
                <a:solidFill>
                  <a:srgbClr val="000000"/>
                </a:solidFill>
                <a:ea typeface="NanumBarunGothic"/>
              </a:rPr>
              <a:t>-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 </a:t>
            </a:r>
            <a:r>
              <a:rPr lang="en-US" altLang="ko-KR" sz="4500" b="1" spc="100" dirty="0">
                <a:solidFill>
                  <a:srgbClr val="000000"/>
                </a:solidFill>
                <a:ea typeface="NanumBarunGothic"/>
              </a:rPr>
              <a:t>RV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잔액 간의 관계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929409C-8EA4-CD85-06BE-B040FA412440}"/>
              </a:ext>
            </a:extLst>
          </p:cNvPr>
          <p:cNvSpPr txBox="1"/>
          <p:nvPr/>
        </p:nvSpPr>
        <p:spPr>
          <a:xfrm>
            <a:off x="939800" y="250972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8A710998-57B5-331B-9514-29D2B55BDF2C}"/>
              </a:ext>
            </a:extLst>
          </p:cNvPr>
          <p:cNvSpPr txBox="1"/>
          <p:nvPr/>
        </p:nvSpPr>
        <p:spPr>
          <a:xfrm>
            <a:off x="1327151" y="2960726"/>
            <a:ext cx="8426449" cy="63483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r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0.4573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Spearman ρ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0.4494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abs_corr_threshold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, 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  = 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0.0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Spearman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p-value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 근접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하므로 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lvl="2">
              <a:lnSpc>
                <a:spcPct val="250000"/>
              </a:lnSpc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유의수준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0.05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에서 귀무가설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상관계수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=0)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을 기각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즉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두 변수 간의 상관계수는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 아니다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</a:p>
          <a:p>
            <a:pPr lvl="2">
              <a:lnSpc>
                <a:spcPct val="250000"/>
              </a:lnSpc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두 변수 모두 약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0.4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의 값을 가지므로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중간 정도의 양의 상관관계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’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를 가진다고 볼 수 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pic>
        <p:nvPicPr>
          <p:cNvPr id="11" name="그림 10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835CD-BAA4-33BC-734B-DDF945CC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170122"/>
            <a:ext cx="8048045" cy="5535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D35E69-8827-4CB2-C91D-A22D217B3AFE}"/>
              </a:ext>
            </a:extLst>
          </p:cNvPr>
          <p:cNvSpPr txBox="1"/>
          <p:nvPr/>
        </p:nvSpPr>
        <p:spPr>
          <a:xfrm flipH="1">
            <a:off x="10847772" y="9193768"/>
            <a:ext cx="652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동일한 한도 소진율에서 </a:t>
            </a:r>
            <a:r>
              <a:rPr lang="en-US" altLang="ko-KR" dirty="0"/>
              <a:t>RV</a:t>
            </a:r>
            <a:r>
              <a:rPr lang="ko-KR" altLang="en-US" dirty="0"/>
              <a:t>잔액의 산포도가 큰 것을 알 수 있음</a:t>
            </a:r>
          </a:p>
        </p:txBody>
      </p:sp>
    </p:spTree>
    <p:extLst>
      <p:ext uri="{BB962C8B-B14F-4D97-AF65-F5344CB8AC3E}">
        <p14:creationId xmlns:p14="http://schemas.microsoft.com/office/powerpoint/2010/main" val="378424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F0AF3-FE66-DE9A-C676-0D83EFB6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722F97-3ECC-B371-A5CB-0B379950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9682288-293B-4679-6539-7BE758125A02}"/>
              </a:ext>
            </a:extLst>
          </p:cNvPr>
          <p:cNvSpPr txBox="1"/>
          <p:nvPr/>
        </p:nvSpPr>
        <p:spPr>
          <a:xfrm>
            <a:off x="939800" y="723900"/>
            <a:ext cx="125476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2+@. 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파생 변수와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 간의 관계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9DEDD4B9-282E-5FB6-269A-54F31E5730F8}"/>
              </a:ext>
            </a:extLst>
          </p:cNvPr>
          <p:cNvSpPr txBox="1"/>
          <p:nvPr/>
        </p:nvSpPr>
        <p:spPr>
          <a:xfrm>
            <a:off x="939800" y="2019300"/>
            <a:ext cx="168910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아래에 있는 표에서 수치로도 확인할 수 있듯이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표준편차가 큰 값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으로 나타나고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소진율이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잔액의 방향성은 설명하나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동일한 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소진율일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때 고객들의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금액 차이를 설명하지 못한다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그래서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'RV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x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한도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소진율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'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이라는 파생 변수를 생성했다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 변수를 통해 고객의 한도 소진율을 기준으로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잔액의 상대적인 규모를 파악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	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→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파생변수를 통해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위험 노출의 상대적 크기를 명확히 표현할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(ex. </a:t>
            </a:r>
            <a:r>
              <a:rPr lang="ko-KR" altLang="en-US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한도소진율이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0.2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이고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100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만원인 고객과 </a:t>
            </a:r>
            <a:r>
              <a:rPr lang="ko-KR" altLang="en-US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한도소진율이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0.5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이지만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잔액이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40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만원인 고객의 상대적 규모는 동일하다고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볼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044DB645-B53D-A836-7C96-FE31A441E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51338"/>
              </p:ext>
            </p:extLst>
          </p:nvPr>
        </p:nvGraphicFramePr>
        <p:xfrm>
          <a:off x="2362200" y="6729761"/>
          <a:ext cx="8204200" cy="3366740"/>
        </p:xfrm>
        <a:graphic>
          <a:graphicData uri="http://schemas.openxmlformats.org/drawingml/2006/table">
            <a:tbl>
              <a:tblPr/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Util_group</a:t>
                      </a:r>
                      <a:endParaRPr lang="en-US" sz="20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Count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Mean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Std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저소진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(≤50%) 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34,831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1,093,416.63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dirty="0">
                          <a:effectLst/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322,724.43</a:t>
                      </a:r>
                    </a:p>
                  </a:txBody>
                  <a:tcPr marL="76200" marR="76200" marT="38100" marB="3810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중간소진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(50~80%)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40411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1,393,797.35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000" b="0" i="0" kern="1200" dirty="0">
                          <a:solidFill>
                            <a:schemeClr val="tx1"/>
                          </a:solidFill>
                          <a:effectLst/>
                          <a:latin typeface="NanumBarunGothic" panose="020B0600000101010101" charset="-127"/>
                          <a:ea typeface="NanumBarunGothic" panose="020B0600000101010101" charset="-127"/>
                          <a:cs typeface="+mn-cs"/>
                        </a:rPr>
                        <a:t>409,327.30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68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고소진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(&gt;80%)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8161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1,533,565.14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459,920.14</a:t>
                      </a:r>
                      <a:endParaRPr 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285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141BB-A5A8-3355-7A2A-23B4FE56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7E3E514-75E3-18CD-0CB7-4351B391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7AC147FD-FA1B-10A1-E7C9-C2E70229B2E6}"/>
              </a:ext>
            </a:extLst>
          </p:cNvPr>
          <p:cNvSpPr txBox="1"/>
          <p:nvPr/>
        </p:nvSpPr>
        <p:spPr>
          <a:xfrm>
            <a:off x="939800" y="723900"/>
            <a:ext cx="125476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2089"/>
              </a:lnSpc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2+@. 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파생 변수와 </a:t>
            </a:r>
            <a:r>
              <a:rPr lang="en-US" altLang="ko-KR" sz="4500" b="1" spc="100" dirty="0">
                <a:solidFill>
                  <a:srgbClr val="000000"/>
                </a:solidFill>
                <a:ea typeface="NanumBarunGothic"/>
              </a:rPr>
              <a:t>RV</a:t>
            </a:r>
            <a:r>
              <a:rPr lang="ko-KR" altLang="en-US" sz="4500" b="1" spc="100" dirty="0">
                <a:solidFill>
                  <a:srgbClr val="000000"/>
                </a:solidFill>
                <a:ea typeface="NanumBarunGothic"/>
              </a:rPr>
              <a:t>잔액 간의 관계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BA8BA27-908D-B79D-2710-868DCCC7240C}"/>
              </a:ext>
            </a:extLst>
          </p:cNvPr>
          <p:cNvSpPr txBox="1"/>
          <p:nvPr/>
        </p:nvSpPr>
        <p:spPr>
          <a:xfrm>
            <a:off x="939800" y="2509722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39C4CF5-5593-49F5-8657-F7B93F631750}"/>
              </a:ext>
            </a:extLst>
          </p:cNvPr>
          <p:cNvSpPr txBox="1"/>
          <p:nvPr/>
        </p:nvSpPr>
        <p:spPr>
          <a:xfrm>
            <a:off x="1327151" y="2960726"/>
            <a:ext cx="15792449" cy="24367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r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0.8277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Spearman ρ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0.8011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abs_corr_threshold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</a:t>
            </a:r>
          </a:p>
          <a:p>
            <a:pPr lvl="1">
              <a:lnSpc>
                <a:spcPct val="2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, 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  = 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0.0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가설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2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와 동일하게 두 변수 간의 상관계수는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 아니며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두 변수 모두 약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0.8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값을 가지므로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“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강한 양의 상관관계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”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가진다고 볼 수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pic>
        <p:nvPicPr>
          <p:cNvPr id="8" name="그림 7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3AAB00-38C8-141E-C73E-C83C92B9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397500"/>
            <a:ext cx="6755179" cy="4480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08360E-778A-66C0-548F-A01646290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079" y="5397500"/>
            <a:ext cx="6513843" cy="4480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88F4BE-CD59-7BCF-16E0-0E1A304A3D8D}"/>
              </a:ext>
            </a:extLst>
          </p:cNvPr>
          <p:cNvSpPr txBox="1"/>
          <p:nvPr/>
        </p:nvSpPr>
        <p:spPr>
          <a:xfrm>
            <a:off x="2084021" y="54628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가설</a:t>
            </a:r>
            <a:r>
              <a:rPr lang="en-US" altLang="ko-KR" dirty="0">
                <a:highlight>
                  <a:srgbClr val="FFFF00"/>
                </a:highlight>
              </a:rPr>
              <a:t>2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DD037-FF26-8A2E-311D-92669DACDC3E}"/>
              </a:ext>
            </a:extLst>
          </p:cNvPr>
          <p:cNvSpPr txBox="1"/>
          <p:nvPr/>
        </p:nvSpPr>
        <p:spPr>
          <a:xfrm>
            <a:off x="8658922" y="54628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가설</a:t>
            </a:r>
            <a:r>
              <a:rPr lang="en-US" altLang="ko-KR" dirty="0">
                <a:highlight>
                  <a:srgbClr val="FFFF00"/>
                </a:highlight>
              </a:rPr>
              <a:t>2+@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0061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CA098-DF40-17AE-D7BC-D86B5D8D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9A7C53C-AF9D-1B8A-F060-1804186E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BEF9BB6-D520-0A1A-D0E8-5C78CE0751C2}"/>
              </a:ext>
            </a:extLst>
          </p:cNvPr>
          <p:cNvSpPr txBox="1"/>
          <p:nvPr/>
        </p:nvSpPr>
        <p:spPr>
          <a:xfrm>
            <a:off x="1325291" y="3148902"/>
            <a:ext cx="15633700" cy="233091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신용 이용 금액이 큰 고객은 단기 유동성 수요가 상대적으로 높을 가능성이 있으며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 경우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RV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이용으로 이어질 여지가 있다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따라서 이용금액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신용이 클수록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RV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잔액이 커질 수 있다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52EBF5C-2069-CB8F-7C71-E522EB0DF0F8}"/>
              </a:ext>
            </a:extLst>
          </p:cNvPr>
          <p:cNvSpPr txBox="1"/>
          <p:nvPr/>
        </p:nvSpPr>
        <p:spPr>
          <a:xfrm>
            <a:off x="906346" y="255270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 내용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EEC532A-9907-9644-F98D-FC97EC9FD1D1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3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이용금액</a:t>
            </a: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_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신용 </a:t>
            </a:r>
            <a:r>
              <a:rPr lang="en-US" altLang="ko-KR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-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 간의 관계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4C6C8AF-C39A-E89E-0EFF-9360346C1B1D}"/>
              </a:ext>
            </a:extLst>
          </p:cNvPr>
          <p:cNvSpPr txBox="1"/>
          <p:nvPr/>
        </p:nvSpPr>
        <p:spPr>
          <a:xfrm>
            <a:off x="1325291" y="6906788"/>
            <a:ext cx="15633700" cy="15213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이용금액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신용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_B0M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과 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잔액 간의 상관분석을 진행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: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가설의 관계가 선형적인가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?  Spearman :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증가 </a:t>
            </a:r>
            <a:r>
              <a:rPr kumimoji="0" lang="en-US" altLang="ko-K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/ </a:t>
            </a:r>
            <a:r>
              <a:rPr kumimoji="0" lang="ko-KR" alt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감소 방향 확인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846E04D-6BD6-3D4D-DF61-0D2CBE095B9C}"/>
              </a:ext>
            </a:extLst>
          </p:cNvPr>
          <p:cNvSpPr txBox="1"/>
          <p:nvPr/>
        </p:nvSpPr>
        <p:spPr>
          <a:xfrm>
            <a:off x="939800" y="5970240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검증 방법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667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4D251-3770-ED7F-46DA-9EC4C329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290A6E-25F9-08A8-474C-0C78F217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4EC52EB-76B2-8F6B-B408-860E2D4C89A6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가설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3.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이용금액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_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신용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-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 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RV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잔액 간의 관계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669EE3-8AA4-06BE-EABC-2579EAD7E69E}"/>
              </a:ext>
            </a:extLst>
          </p:cNvPr>
          <p:cNvSpPr txBox="1"/>
          <p:nvPr/>
        </p:nvSpPr>
        <p:spPr>
          <a:xfrm>
            <a:off x="939800" y="1913363"/>
            <a:ext cx="2095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56836D1-8EB5-B517-36F6-D56A2F37E751}"/>
              </a:ext>
            </a:extLst>
          </p:cNvPr>
          <p:cNvSpPr txBox="1"/>
          <p:nvPr/>
        </p:nvSpPr>
        <p:spPr>
          <a:xfrm>
            <a:off x="1327151" y="2299513"/>
            <a:ext cx="15792449" cy="30971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Pearson r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0.0872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  Spearman ρ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0.1520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 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abs_corr_threshold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0.0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,   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r , 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  =  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0.0</a:t>
            </a:r>
          </a:p>
          <a:p>
            <a:pPr marL="800100" lvl="1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과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p-value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가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 근접하므로 귀무가설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상관계수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=0)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기각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  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즉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두 변수 간의 상관계수는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 아니다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하지만 유의미한 상관관계가 있다고 보기에는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Pearson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값과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Spearman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값이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매우 작게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나타난다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1">
              <a:lnSpc>
                <a:spcPct val="250000"/>
              </a:lnSpc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→  통계적으로는 유의미하지만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실질적인 상관관계는 거의 없는 것으로 판단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된다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p:pic>
        <p:nvPicPr>
          <p:cNvPr id="14" name="그림 1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05A84-80F6-39C1-9744-0D2A0E33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5396687"/>
            <a:ext cx="8610600" cy="4699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1409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A2275-94F5-E230-386F-80ADDEC0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95E963-29F3-4BE0-07D3-540623DF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8D71E74-6AB4-D2A5-8704-F70254608ABC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F5C971D-8F16-905E-43EA-E0F181C8D239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5.1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 기반 주요 변수에 대한 </a:t>
            </a:r>
            <a:r>
              <a:rPr lang="en-US" altLang="ko-KR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1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차 중요도 확인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C7E8FC5-223E-F9D0-9D5D-CFB7AF962631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앞선 탐색적 데이터 분석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(EDA)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통해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RV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잔액과의 관계가 상대적으로 뚜렷하게 나타난 한도 관련 변수들을 중심으로 주요 후보 변수를 도출하였다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이러한 변수들은 도메인 관점에서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 형성과 구조적으로 연관되어 있을 것으로 판단되었다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200000"/>
              </a:lnSpc>
              <a:defRPr/>
            </a:pPr>
            <a:endParaRPr lang="en-US" altLang="ko-KR" sz="24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그러나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결과는 변수 간 관계를 </a:t>
            </a:r>
            <a:r>
              <a:rPr lang="ko-KR" altLang="en-US" sz="24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단변량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또는 제한적인 관점에서 확인한 결과이므로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변수들이 실제 예측 관점에서도 중요하게 작용하는지를 확인할 필요가 있었다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이에 따라 먼저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EDA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중요하다고 판단한 변수들을 중심으로 모델 기반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Importance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분석을 수행하였다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4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importance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타겟과의 단순 상관이 아니라 모델 예측에 기여한 정도이므로 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인상과 달라질 수 있다</a:t>
            </a:r>
            <a:r>
              <a:rPr lang="en-US" altLang="ko-KR" sz="24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76B7AA-A5BC-D5AF-22C3-CBC8A6723EC2}"/>
              </a:ext>
            </a:extLst>
          </p:cNvPr>
          <p:cNvSpPr/>
          <p:nvPr/>
        </p:nvSpPr>
        <p:spPr>
          <a:xfrm>
            <a:off x="1327151" y="8373637"/>
            <a:ext cx="15792450" cy="1697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54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3AE07-5643-CC75-DE4F-3613A06B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1CEB00C-BBC6-1FB2-AB1C-CDF3DF07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396A7F7-7049-2C07-DD2A-B21F108F6B8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C2AB2167-B7B9-E27B-640D-9F2E55E6F43F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5.2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Feature Importance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결과와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EDA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판단의 차이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1035DD8-D675-22B4-92B7-12A50AAF4122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RV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일시불 잔액과의 관계가 뚜렷해 보였던 변수들을 중심으로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변수들이 실제 예측 모델에서도 중요한 역할을 하는지를 확인하기 위해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EBM(Explainable Boosting Regressor)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활용한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Feature Importance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분석을 먼저 수행하였다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EDA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단계에서 중요하다고 판단했던 일부 변수들은 모델 관점에서는 상대적으로 낮은 중요도를 보였으며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반대로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에서는 두드러지지 않았던 일부 변수들이 예측 과정에서 더 큰 기여를 하는 경우도 확인되었다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‘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단변량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관찰’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importance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‘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다변량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예측 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기여도’이므로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결과 불일치는 자연스럽다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따라서 두 관점을 교차 검증하여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final cols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확정했다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C6E816-BA19-E757-6DBF-9D772B7A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381501"/>
            <a:ext cx="3404757" cy="26815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695236-B6D9-3FAB-F78A-82A2C850B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16" y="4374777"/>
            <a:ext cx="3404757" cy="26815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E1AEAF0-A79D-DA25-77C2-A6F766507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909213"/>
                  </p:ext>
                </p:extLst>
              </p:nvPr>
            </p:nvGraphicFramePr>
            <p:xfrm>
              <a:off x="11111632" y="5107172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160,719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216,335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0.7772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DE1AEAF0-A79D-DA25-77C2-A6F766507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909213"/>
                  </p:ext>
                </p:extLst>
              </p:nvPr>
            </p:nvGraphicFramePr>
            <p:xfrm>
              <a:off x="11111632" y="5107172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160,719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216,335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2" t="-191304" r="-1006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0.7772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3B48E3D-4565-3586-6E54-92529F2137C8}"/>
              </a:ext>
            </a:extLst>
          </p:cNvPr>
          <p:cNvSpPr txBox="1"/>
          <p:nvPr/>
        </p:nvSpPr>
        <p:spPr>
          <a:xfrm>
            <a:off x="12600617" y="4507371"/>
            <a:ext cx="3029997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기준 모델 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1857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12646-FEA5-5B0E-1C0B-65181CD8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4F4E2B5-F550-345A-473F-3077D507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36A7280-5FAC-D561-49D3-170B3608F6F9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083DA9B-04FD-420D-5A41-B8AA247BD86B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5.3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Boruta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를 활용한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선별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1F9188E-05F2-CA8F-8E35-F4BADD6653B9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이러한 한계를 보완하기 위해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Random Forest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Boruta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알고리즘을 활용하여 변수 선택을 추가적으로 수행하였다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Boruta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알고리즘은 각 변수의 중요도를 무작위로 생성된 변수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(shadow feature)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와 비교함으로써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예측에 통계적으로 </a:t>
            </a:r>
            <a:r>
              <a:rPr lang="ko-KR" altLang="en-US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유의미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하게 기여하는 변수만을 선별하는 방법이다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단일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importance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모델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/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샘플에 따라 변동될 수 있어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Boruta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로 일관되게 중요한 변수만 보수적으로 선별했다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200000"/>
              </a:lnSpc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전체 변수 중 일부만이 일관되게 중요한 변수로 확인되었으며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다수의 변수들은 예측 기여도가 낮아 제거 가능한 변수로 분류되었다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이를 통해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EDA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및 단순 중요도 분석만으로는 구분하기 어려웠던 변수들을 모델 관점에서 보다 명확히 선별할 수 있었다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AB79F0-A045-F1EB-2F95-15A6D3D8F29C}"/>
              </a:ext>
            </a:extLst>
          </p:cNvPr>
          <p:cNvSpPr/>
          <p:nvPr/>
        </p:nvSpPr>
        <p:spPr>
          <a:xfrm>
            <a:off x="1327151" y="7713238"/>
            <a:ext cx="15792450" cy="24594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3BF91B-5146-7559-5400-21E330A59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039" y="3114211"/>
            <a:ext cx="3600953" cy="2934109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43384D-FD61-0B45-04B1-3B6CEAD3A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7481" y="3114211"/>
            <a:ext cx="3667637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21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0117A-B0BF-C0F8-65BD-67070BE4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493D80E-9941-8161-B294-2298D1E7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23134B3-C9BA-92B1-A00F-2FCED24E5C12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변수 선택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721AB83-C4B4-20B0-BEB8-F9346E4B3B4C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5.4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변수 축소에 따른 성능 비교 및 해석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B5D885E-F117-D924-6266-2791A79EE35B}"/>
              </a:ext>
            </a:extLst>
          </p:cNvPr>
          <p:cNvSpPr txBox="1"/>
          <p:nvPr/>
        </p:nvSpPr>
        <p:spPr>
          <a:xfrm>
            <a:off x="1327151" y="2950426"/>
            <a:ext cx="157924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Boruta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선별된 변수 집합과 전체 변수를 모두 사용한 모델 간의 성능을 비교한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MAE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등 주요 평가 지표에서 두 모델 간 성능 차이는 매우 제한적인 수준으로 나타났다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이는 예측 성능을 거의 유지하면서도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중요도가 낮은 변수를 상당수 제거할 수 있음을 의미한다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 차이가 크지 않다면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또는 소폭 열세라면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운영 비용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·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설명 가능성을 고려해 </a:t>
            </a: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기본안으로 채택하는 것이 합리적이다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020F5C1A-250C-683C-BF3C-2B302AC77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093933"/>
                  </p:ext>
                </p:extLst>
              </p:nvPr>
            </p:nvGraphicFramePr>
            <p:xfrm>
              <a:off x="1327151" y="3583845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160,719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216,335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0.7772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020F5C1A-250C-683C-BF3C-2B302AC776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6093933"/>
                  </p:ext>
                </p:extLst>
              </p:nvPr>
            </p:nvGraphicFramePr>
            <p:xfrm>
              <a:off x="1327151" y="3583845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160,719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216,335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2" t="-191304" r="-1006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0.7772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97CB9C-30C8-C50D-9278-2A7B49DBF6C7}"/>
              </a:ext>
            </a:extLst>
          </p:cNvPr>
          <p:cNvSpPr txBox="1"/>
          <p:nvPr/>
        </p:nvSpPr>
        <p:spPr>
          <a:xfrm>
            <a:off x="2816136" y="2984044"/>
            <a:ext cx="3343608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&lt;Boruta 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이전의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BF784DD-AC25-DC52-0B7E-B406B67D9F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253878"/>
                  </p:ext>
                </p:extLst>
              </p:nvPr>
            </p:nvGraphicFramePr>
            <p:xfrm>
              <a:off x="10952883" y="3583845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5338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161,632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5338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217,902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kumimoji="0" lang="en-US" altLang="ko-KR" sz="35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NanumBarunGothic" panose="020B0600000101010101" charset="-127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0.7739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BF784DD-AC25-DC52-0B7E-B406B67D9F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253878"/>
                  </p:ext>
                </p:extLst>
              </p:nvPr>
            </p:nvGraphicFramePr>
            <p:xfrm>
              <a:off x="10952883" y="3583845"/>
              <a:ext cx="6007968" cy="19491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003984">
                      <a:extLst>
                        <a:ext uri="{9D8B030D-6E8A-4147-A177-3AD203B41FA5}">
                          <a16:colId xmlns:a16="http://schemas.microsoft.com/office/drawing/2014/main" val="430796066"/>
                        </a:ext>
                      </a:extLst>
                    </a:gridCol>
                    <a:gridCol w="3003984">
                      <a:extLst>
                        <a:ext uri="{9D8B030D-6E8A-4147-A177-3AD203B41FA5}">
                          <a16:colId xmlns:a16="http://schemas.microsoft.com/office/drawing/2014/main" val="326104937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MAE</a:t>
                          </a:r>
                          <a:endParaRPr lang="ko-KR" altLang="en-US" sz="3500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161,632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3759407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35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NanumBarunGothic" panose="020B0600000101010101" charset="-127"/>
                              <a:ea typeface="NanumBarunGothic" panose="020B0600000101010101" charset="-127"/>
                              <a:cs typeface="+mn-cs"/>
                            </a:rPr>
                            <a:t>RMSE</a:t>
                          </a:r>
                          <a:endParaRPr kumimoji="0" lang="ko-KR" altLang="en-US" sz="35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anumBarunGothic" panose="020B0600000101010101" charset="-127"/>
                            <a:ea typeface="NanumBarunGothic" panose="020B0600000101010101" charset="-127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217,902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519589"/>
                      </a:ext>
                    </a:extLst>
                  </a:tr>
                  <a:tr h="69949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02" t="-191304" r="-1006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3500" b="1" dirty="0">
                              <a:solidFill>
                                <a:schemeClr val="tx1"/>
                              </a:solidFill>
                              <a:latin typeface="NanumBarunGothic" panose="020B0600000101010101" charset="-127"/>
                              <a:ea typeface="NanumBarunGothic" panose="020B0600000101010101" charset="-127"/>
                            </a:rPr>
                            <a:t>0.7739</a:t>
                          </a:r>
                          <a:endParaRPr lang="ko-KR" altLang="en-US" sz="3500" b="1" dirty="0">
                            <a:solidFill>
                              <a:schemeClr val="tx1"/>
                            </a:solidFill>
                            <a:latin typeface="NanumBarunGothic" panose="020B0600000101010101" charset="-127"/>
                            <a:ea typeface="NanumBarunGothic" panose="020B0600000101010101" charset="-127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6003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0081D9-FAFE-7BE5-9C8F-85102A787AF8}"/>
              </a:ext>
            </a:extLst>
          </p:cNvPr>
          <p:cNvSpPr txBox="1"/>
          <p:nvPr/>
        </p:nvSpPr>
        <p:spPr>
          <a:xfrm>
            <a:off x="12441868" y="2984044"/>
            <a:ext cx="3409331" cy="4462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&lt;Boruta</a:t>
            </a:r>
            <a:r>
              <a:rPr lang="ko-KR" altLang="en-US" sz="2300" b="1" dirty="0">
                <a:latin typeface="NanumBarunGothic" panose="020B0600000101010101" charset="-127"/>
                <a:ea typeface="NanumBarunGothic" panose="020B0600000101010101" charset="-127"/>
              </a:rPr>
              <a:t> 이후의 성능 지표</a:t>
            </a:r>
            <a:r>
              <a:rPr lang="en-US" altLang="ko-KR" sz="2300" b="1" dirty="0">
                <a:latin typeface="NanumBarunGothic" panose="020B0600000101010101" charset="-127"/>
                <a:ea typeface="NanumBarunGothic" panose="020B0600000101010101" charset="-127"/>
              </a:rPr>
              <a:t>&gt;</a:t>
            </a:r>
            <a:endParaRPr lang="ko-KR" altLang="en-US" sz="2300" b="1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FD27FE-BD2D-2E2E-4699-EE89E4FCC2AD}"/>
              </a:ext>
            </a:extLst>
          </p:cNvPr>
          <p:cNvSpPr/>
          <p:nvPr/>
        </p:nvSpPr>
        <p:spPr>
          <a:xfrm>
            <a:off x="1327151" y="8521700"/>
            <a:ext cx="15792450" cy="1600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860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AABEB-E180-269C-B79C-05E3C934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5E0FF5-3F72-84A0-B3FF-EA6C602F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1602049-4EBD-DBF1-53C4-9EC548B6833A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500" b="1" spc="1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6</a:t>
            </a: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 </a:t>
            </a:r>
            <a:r>
              <a:rPr lang="ko-KR" altLang="en-US" sz="4500" b="1" spc="100" dirty="0">
                <a:solidFill>
                  <a:srgbClr val="000000"/>
                </a:solidFill>
                <a:latin typeface="Calibri"/>
                <a:ea typeface="NanumBarunGothic"/>
              </a:rPr>
              <a:t>모델링</a:t>
            </a:r>
            <a:endParaRPr kumimoji="0" lang="ko-KR" altLang="en-US" sz="45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NanumBarunGothic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BE7F6D1-75A8-1AE8-8537-818DEC32327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6.1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모델링 </a:t>
            </a:r>
            <a:r>
              <a:rPr lang="ko-KR" altLang="en-US" sz="3500" dirty="0">
                <a:solidFill>
                  <a:srgbClr val="000000"/>
                </a:solidFill>
                <a:latin typeface="NanumBarunGothic" panose="020B0600000101010101" charset="-127"/>
                <a:ea typeface="NanumBarunGothic" panose="020B0600000101010101" charset="-127"/>
              </a:rPr>
              <a:t>목적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및 접근 전략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A22533DC-A159-E692-9FDB-C2C407D3C836}"/>
              </a:ext>
            </a:extLst>
          </p:cNvPr>
          <p:cNvSpPr txBox="1"/>
          <p:nvPr/>
        </p:nvSpPr>
        <p:spPr>
          <a:xfrm>
            <a:off x="1327151" y="2857500"/>
            <a:ext cx="78168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본 섹션에서는 앞선 변수 선택 과정을 통해 도출한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top_features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중심으로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구축하고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구성에 따른 예측 성능과 효율성을 비교 분석하였다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모델링의 주요 목적은 최대 성능을 달성하는 것 자체보다는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불필요한 변수를 제거한 상태에서도 예측 성능을 어느 수준까지 유지할 수 있는지를 확인하는 데 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이를 통해 실제 실무 환경에서 고려해야 할 계산 비용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복잡도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해석 가능성 측면의 의사결정 근거를 제시하고자 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864FEBC-25CB-5B86-545D-EEBC10F6FCC5}"/>
              </a:ext>
            </a:extLst>
          </p:cNvPr>
          <p:cNvSpPr txBox="1"/>
          <p:nvPr/>
        </p:nvSpPr>
        <p:spPr>
          <a:xfrm>
            <a:off x="9029700" y="2857500"/>
            <a:ext cx="7816849" cy="6968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RF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는 비선형 관계와 변수 상호작용을 함께 포착하면서도 변수 중요도 해석이 가능해 본 과제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리스크 요인 규명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+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예측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 적합하다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분석 순서는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선택 결과를 반영한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top_features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모델에 대해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통해 최적의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조합을 탐색하였다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이후 해당 결과를 본문 기준 성능으로 정리하고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참고 목적에서 전체 컬럼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(all columns)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 모델의 결과를 추가적으로 비교하였다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128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1E6F3-BF84-882B-2857-8FC4C65C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429802-043E-A650-4D09-49CB36D2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9DFE30A-1940-4F3A-A7E0-1D6F703910F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89C635-A018-1776-8BF6-C00ACEB8E7B0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6.2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RandomForest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Grid Search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03BAA3C-06AE-A00A-4212-4D7CB554C30A}"/>
              </a:ext>
            </a:extLst>
          </p:cNvPr>
          <p:cNvSpPr txBox="1"/>
          <p:nvPr/>
        </p:nvSpPr>
        <p:spPr>
          <a:xfrm>
            <a:off x="1247775" y="6773434"/>
            <a:ext cx="15792449" cy="314526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200000"/>
              </a:lnSpc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에서는 트리 개수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트리 깊이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노드 분할 기준과 리프 크기를 중심으로</a:t>
            </a: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총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24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개 조합에 대한 성능을 비교하였다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B0B685-D479-1F6C-2C78-EFA65B0BE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03386"/>
              </p:ext>
            </p:extLst>
          </p:nvPr>
        </p:nvGraphicFramePr>
        <p:xfrm>
          <a:off x="6832600" y="3100966"/>
          <a:ext cx="10287000" cy="3145265"/>
        </p:xfrm>
        <a:graphic>
          <a:graphicData uri="http://schemas.openxmlformats.org/drawingml/2006/table">
            <a:tbl>
              <a:tblPr/>
              <a:tblGrid>
                <a:gridCol w="5143500">
                  <a:extLst>
                    <a:ext uri="{9D8B030D-6E8A-4147-A177-3AD203B41FA5}">
                      <a16:colId xmlns:a16="http://schemas.microsoft.com/office/drawing/2014/main" val="259943968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188540495"/>
                    </a:ext>
                  </a:extLst>
                </a:gridCol>
              </a:tblGrid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하이퍼파라미터</a:t>
                      </a:r>
                      <a:endParaRPr lang="ko-KR" altLang="en-US" sz="25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탐색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3842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200, 400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9567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10, 20, 50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4423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min_samples_split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10, 30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94455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5, 10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5433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3A3CF865-FF19-5B8C-58FD-005F765B9E56}"/>
              </a:ext>
            </a:extLst>
          </p:cNvPr>
          <p:cNvSpPr/>
          <p:nvPr/>
        </p:nvSpPr>
        <p:spPr>
          <a:xfrm>
            <a:off x="1327150" y="7366916"/>
            <a:ext cx="15792450" cy="195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91ACB6-CADD-BBB8-67EF-D54A43FCD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2218"/>
              </p:ext>
            </p:extLst>
          </p:nvPr>
        </p:nvGraphicFramePr>
        <p:xfrm>
          <a:off x="1447800" y="2792200"/>
          <a:ext cx="4724400" cy="4089864"/>
        </p:xfrm>
        <a:graphic>
          <a:graphicData uri="http://schemas.openxmlformats.org/drawingml/2006/table">
            <a:tbl>
              <a:tblPr/>
              <a:tblGrid>
                <a:gridCol w="872182">
                  <a:extLst>
                    <a:ext uri="{9D8B030D-6E8A-4147-A177-3AD203B41FA5}">
                      <a16:colId xmlns:a16="http://schemas.microsoft.com/office/drawing/2014/main" val="1100529694"/>
                    </a:ext>
                  </a:extLst>
                </a:gridCol>
                <a:gridCol w="3852218">
                  <a:extLst>
                    <a:ext uri="{9D8B030D-6E8A-4147-A177-3AD203B41FA5}">
                      <a16:colId xmlns:a16="http://schemas.microsoft.com/office/drawing/2014/main" val="2371630570"/>
                    </a:ext>
                  </a:extLst>
                </a:gridCol>
              </a:tblGrid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Top_features</a:t>
                      </a:r>
                      <a:endParaRPr lang="ko-KR" altLang="en-US" sz="22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16993"/>
                  </a:ext>
                </a:extLst>
              </a:tr>
              <a:tr h="551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리볼빙일시불이월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694844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월중평잔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_RV</a:t>
                      </a: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일시불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271083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평잔</a:t>
                      </a: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RV</a:t>
                      </a: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일시불</a:t>
                      </a: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_3</a:t>
                      </a:r>
                      <a:r>
                        <a:rPr 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76444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이용금액</a:t>
                      </a: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신용</a:t>
                      </a: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386526"/>
                  </a:ext>
                </a:extLst>
              </a:tr>
              <a:tr h="551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ko-KR" altLang="en-US" sz="2200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신판평균한도소진율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_r6m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894130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카드이용한도금액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26439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RV_</a:t>
                      </a:r>
                      <a:r>
                        <a:rPr lang="ko-KR" alt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최대잔액</a:t>
                      </a: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R12M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50963"/>
                  </a:ext>
                </a:extLst>
              </a:tr>
              <a:tr h="315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잔액</a:t>
                      </a:r>
                      <a:r>
                        <a:rPr lang="en-US" altLang="ko-KR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_</a:t>
                      </a:r>
                      <a:r>
                        <a:rPr lang="en-US" sz="22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B0M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1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18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BFE9A-997A-7C43-D73A-0DF773D1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4A03431-4B96-6A40-D040-CDC36EBD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41962574-5281-A629-EC06-7E1215E41358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A9458AB-C202-006D-D034-4DEEDC18A2DC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6.3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RandomForest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Grid Search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DCCD457-F8F2-A555-5C20-9AB3001BA79A}"/>
              </a:ext>
            </a:extLst>
          </p:cNvPr>
          <p:cNvSpPr txBox="1"/>
          <p:nvPr/>
        </p:nvSpPr>
        <p:spPr>
          <a:xfrm>
            <a:off x="1327151" y="2950426"/>
            <a:ext cx="7816849" cy="63078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선별된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top_features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(8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만을 활용하여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모델에 대해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수행한 결과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왼쪽의 표와 같다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표에서 가장 작은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MAE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기록한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radomforest_5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모델의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조합을 최적의 조합으로 선택했다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62E38D7-8310-0EA1-3049-2654A8329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68049"/>
              </p:ext>
            </p:extLst>
          </p:nvPr>
        </p:nvGraphicFramePr>
        <p:xfrm>
          <a:off x="10363200" y="2950426"/>
          <a:ext cx="6400800" cy="68465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62925428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357014846"/>
                    </a:ext>
                  </a:extLst>
                </a:gridCol>
              </a:tblGrid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731321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-170,846 ± 997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28556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-170,817 ± 1,009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523070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-170,853 ± 999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634167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-170,829 ± 1,011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018253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-170,786 ± 998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40471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-170,778 ± 1,024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52276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-170,791 ± 1,000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5342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-170,780 ± 1,025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48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-172,127 ± 774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06923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-171,993 ± 786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38350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-171,508 ± 793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118282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-171,418 ± 802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854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-171,491 ± 854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94040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-171,443 ± 871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8739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-171,314 ± 877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26416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-171,264 ± 894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19195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-172,291 ± 778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58427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-172,140 ± 777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58854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randomforest_18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-171,559 ± 794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7336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-171,467 ± 803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510884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-171,522 ± 849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832858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randomforest_21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-171,471 ± 864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59262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randomforest_22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-171,333 ± 874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72979"/>
                  </a:ext>
                </a:extLst>
              </a:tr>
              <a:tr h="271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randomforest_23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-171,280 ± 890</a:t>
                      </a:r>
                    </a:p>
                  </a:txBody>
                  <a:tcPr marL="45260" marR="45260" marT="22630" marB="22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17605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30F6700-0F27-E293-D113-72E793D8C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92893"/>
              </p:ext>
            </p:extLst>
          </p:nvPr>
        </p:nvGraphicFramePr>
        <p:xfrm>
          <a:off x="1327151" y="6057900"/>
          <a:ext cx="7816848" cy="3145265"/>
        </p:xfrm>
        <a:graphic>
          <a:graphicData uri="http://schemas.openxmlformats.org/drawingml/2006/table">
            <a:tbl>
              <a:tblPr/>
              <a:tblGrid>
                <a:gridCol w="3908424">
                  <a:extLst>
                    <a:ext uri="{9D8B030D-6E8A-4147-A177-3AD203B41FA5}">
                      <a16:colId xmlns:a16="http://schemas.microsoft.com/office/drawing/2014/main" val="259943968"/>
                    </a:ext>
                  </a:extLst>
                </a:gridCol>
                <a:gridCol w="3908424">
                  <a:extLst>
                    <a:ext uri="{9D8B030D-6E8A-4147-A177-3AD203B41FA5}">
                      <a16:colId xmlns:a16="http://schemas.microsoft.com/office/drawing/2014/main" val="2188540495"/>
                    </a:ext>
                  </a:extLst>
                </a:gridCol>
              </a:tblGrid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하이퍼</a:t>
                      </a:r>
                      <a:r>
                        <a:rPr lang="ko-KR" altLang="en-US" sz="2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결정값</a:t>
                      </a:r>
                      <a:endParaRPr lang="ko-KR" altLang="en-US" sz="25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3842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95678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4423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min_samples_split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94455"/>
                  </a:ext>
                </a:extLst>
              </a:tr>
              <a:tr h="629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543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51074C3-D20C-F84B-4910-06EFC7A23F1A}"/>
              </a:ext>
            </a:extLst>
          </p:cNvPr>
          <p:cNvSpPr txBox="1"/>
          <p:nvPr/>
        </p:nvSpPr>
        <p:spPr>
          <a:xfrm>
            <a:off x="1327151" y="9427594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87220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DE69-3E48-BF38-AD8C-415342F7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1CDA22-4558-EF59-2A17-C8D0A19B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C8BB40B-9FA7-9CA6-2972-5E9F4ED28560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6ED0A32-99F7-4322-E42C-16AFDA67C22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6.4 Top features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Hyperparameter Tuning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 및 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1AF1A1D-CF76-D877-536E-EA306028C345}"/>
              </a:ext>
            </a:extLst>
          </p:cNvPr>
          <p:cNvSpPr txBox="1"/>
          <p:nvPr/>
        </p:nvSpPr>
        <p:spPr>
          <a:xfrm>
            <a:off x="1327151" y="2950426"/>
            <a:ext cx="7816849" cy="64602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Grid Search 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결과를 바탕으로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n_estimators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max_depth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en-US" altLang="ko-KR" sz="23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min_samples_leaf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의 값을 고정하고 추가적인 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  <a:r>
              <a:rPr lang="ko-KR" altLang="en-US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수행하였다</a:t>
            </a:r>
            <a:r>
              <a:rPr lang="en-US" altLang="ko-KR" sz="23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552B029-05E8-118A-0042-C7C8E9F30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9360"/>
              </p:ext>
            </p:extLst>
          </p:nvPr>
        </p:nvGraphicFramePr>
        <p:xfrm>
          <a:off x="1327151" y="5143500"/>
          <a:ext cx="7816850" cy="4267200"/>
        </p:xfrm>
        <a:graphic>
          <a:graphicData uri="http://schemas.openxmlformats.org/drawingml/2006/table">
            <a:tbl>
              <a:tblPr/>
              <a:tblGrid>
                <a:gridCol w="3908425">
                  <a:extLst>
                    <a:ext uri="{9D8B030D-6E8A-4147-A177-3AD203B41FA5}">
                      <a16:colId xmlns:a16="http://schemas.microsoft.com/office/drawing/2014/main" val="1231722178"/>
                    </a:ext>
                  </a:extLst>
                </a:gridCol>
                <a:gridCol w="3908425">
                  <a:extLst>
                    <a:ext uri="{9D8B030D-6E8A-4147-A177-3AD203B41FA5}">
                      <a16:colId xmlns:a16="http://schemas.microsoft.com/office/drawing/2014/main" val="1179794900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8736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9747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5347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8833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max_features (mtry)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2, 4, 6, 8, 10, 15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5989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0.6, 0.8, 1.0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6347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93746C-16F6-055A-C82F-75293D064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381738"/>
              </p:ext>
            </p:extLst>
          </p:nvPr>
        </p:nvGraphicFramePr>
        <p:xfrm>
          <a:off x="10575924" y="4539656"/>
          <a:ext cx="5867400" cy="5474888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1890040183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4042738262"/>
                    </a:ext>
                  </a:extLst>
                </a:gridCol>
              </a:tblGrid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01003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-169,957.29 ± 1,045.19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917609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-169,966.26 ± 1,023.11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33737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-169,954.09 ± 1,054.22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71160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-170,396.91 ± 1,014.77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804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-170,458.04 ± 992.85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86565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-170,468.84 ± 987.15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40183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-170,502.72 ± 1,015.15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02217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-170,561.61 ± 1,016.49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2197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-170,568.15 ± 1,012.63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61292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9185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331842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003880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4806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773433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24934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-170,622.19 ± 1,042.60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168004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-170,717.58 ± 1,023.40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607025"/>
                  </a:ext>
                </a:extLst>
              </a:tr>
              <a:tr h="238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-170,777.55 ± 1,024.35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53579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E04DC674-819F-8EF5-1BBB-DC5374E3C5F8}"/>
              </a:ext>
            </a:extLst>
          </p:cNvPr>
          <p:cNvSpPr txBox="1"/>
          <p:nvPr/>
        </p:nvSpPr>
        <p:spPr>
          <a:xfrm>
            <a:off x="9601200" y="2696426"/>
            <a:ext cx="7816849" cy="68666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튜닝 결과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best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randomforest_0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grid search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대비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가 소폭 개선되었다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성능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–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복잡도 균형 기준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).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    / </a:t>
            </a:r>
            <a:r>
              <a:rPr lang="en-US" altLang="ko-KR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max_features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= 2,  </a:t>
            </a:r>
            <a:r>
              <a:rPr lang="en-US" altLang="ko-KR" sz="20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max_samples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= 0.6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656BA-978C-6F0E-7752-E0C2385465D0}"/>
              </a:ext>
            </a:extLst>
          </p:cNvPr>
          <p:cNvSpPr txBox="1"/>
          <p:nvPr/>
        </p:nvSpPr>
        <p:spPr>
          <a:xfrm>
            <a:off x="1327152" y="9563100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4222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7482B-BF65-5B3F-B91D-5F33390C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CD080E-EE69-22B0-B7D6-2C685328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DD9F038-64E8-046B-582A-1A7B2AF4AEE3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04989E5-6FE6-028E-0D7A-8F3F770C8FE2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6.4+@ All Columns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기반 </a:t>
            </a:r>
            <a:r>
              <a:rPr kumimoji="0" lang="en-US" altLang="ko-KR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Hyperparameter Tuning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구조 및 결과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E00BF52-F35D-9ED1-AD93-0613E34AABBB}"/>
              </a:ext>
            </a:extLst>
          </p:cNvPr>
          <p:cNvSpPr txBox="1"/>
          <p:nvPr/>
        </p:nvSpPr>
        <p:spPr>
          <a:xfrm>
            <a:off x="1327151" y="2950426"/>
            <a:ext cx="8197850" cy="21930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변수 선택을 적용하지 않은 기준 모델로서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데이터가 제공할 수 있는 최대 예측 성능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확인하기 위한 목적이다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구조는 </a:t>
            </a:r>
            <a:r>
              <a:rPr lang="en-US" altLang="ko-KR" sz="21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를 사용하였으며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Top Features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모델과 동일한 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Hyperparameter Tuning </a:t>
            </a:r>
            <a:r>
              <a:rPr lang="ko-KR" altLang="en-US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전략을 적용하여 학습 과정의 일관성을 유지하였다</a:t>
            </a:r>
            <a:r>
              <a:rPr lang="en-US" altLang="ko-KR" sz="21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0BBBC3-623B-5650-7082-485D98E17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09081"/>
              </p:ext>
            </p:extLst>
          </p:nvPr>
        </p:nvGraphicFramePr>
        <p:xfrm>
          <a:off x="1327151" y="5600700"/>
          <a:ext cx="8197850" cy="3581400"/>
        </p:xfrm>
        <a:graphic>
          <a:graphicData uri="http://schemas.openxmlformats.org/drawingml/2006/table">
            <a:tbl>
              <a:tblPr/>
              <a:tblGrid>
                <a:gridCol w="4098925">
                  <a:extLst>
                    <a:ext uri="{9D8B030D-6E8A-4147-A177-3AD203B41FA5}">
                      <a16:colId xmlns:a16="http://schemas.microsoft.com/office/drawing/2014/main" val="1231722178"/>
                    </a:ext>
                  </a:extLst>
                </a:gridCol>
                <a:gridCol w="4098925">
                  <a:extLst>
                    <a:ext uri="{9D8B030D-6E8A-4147-A177-3AD203B41FA5}">
                      <a16:colId xmlns:a16="http://schemas.microsoft.com/office/drawing/2014/main" val="1179794900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87369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n_estimators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97477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max_depth</a:t>
                      </a:r>
                      <a:endParaRPr lang="en-US" sz="2200" b="1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53478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88337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max_features (mtry)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2, 4, 6, 8, 10, 15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598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max_samples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2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0.6, 0.8, 1.0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63477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7C601820-D47E-9FA5-7F8F-830CBBD98880}"/>
              </a:ext>
            </a:extLst>
          </p:cNvPr>
          <p:cNvSpPr txBox="1"/>
          <p:nvPr/>
        </p:nvSpPr>
        <p:spPr>
          <a:xfrm>
            <a:off x="10210800" y="2597308"/>
            <a:ext cx="7816849" cy="701659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튜닝 결과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‘randomforest_5’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이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best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모델이며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Top features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대비 성능은 소폭 우수했으나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변수 수 증가에 따른 연산 비용과 모델 복잡성이 크게 증가했다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.</a:t>
            </a:r>
            <a:r>
              <a:rPr lang="en-US" altLang="ko-KR" sz="2000" noProof="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/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max_features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15,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max_samples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 = 1.0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0777E4-EF69-7ED1-1969-8272E83D7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61220"/>
              </p:ext>
            </p:extLst>
          </p:nvPr>
        </p:nvGraphicFramePr>
        <p:xfrm>
          <a:off x="11337924" y="4533900"/>
          <a:ext cx="5562600" cy="5474888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3410452548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160208449"/>
                    </a:ext>
                  </a:extLst>
                </a:gridCol>
              </a:tblGrid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모델명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500046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-198,423.10 ± 1,724.46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10652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-197,808.06 ± 1,448.34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36803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-198,002.97 ± 1,839.23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05663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-167,177.77 ± 989.66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79783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-166,947.92 ± 946.82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53027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-166,652.42 ± 1,265.78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4177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-160,550.04 ± 1,018.49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309776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-160,469.85 ± 984.02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09004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-160,465.09 ± 1,049.36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65955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-158,943.30 ± 902.95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90428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randomforest_10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-158,791.58 ± 885.89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5407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randomforest_11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-158,834.95 ± 868.23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246191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randomforest_12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-158,495.67 ± 818.65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4759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randomforest_13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-158,464.49 ± 796.34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0040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randomforest_14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-158,467.10 ± 844.78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88305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-158,488.19 ± 786.39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53273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randomforest_16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-158,469.79 ± 780.35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005852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-158,460.96 ± 776.46</a:t>
                      </a:r>
                      <a:r>
                        <a:rPr lang="ko-KR" altLang="en-US" sz="1500" dirty="0">
                          <a:highlight>
                            <a:srgbClr val="FFFF00"/>
                          </a:highlight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 </a:t>
                      </a:r>
                    </a:p>
                  </a:txBody>
                  <a:tcPr marL="59552" marR="59552" marT="29776" marB="297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32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88009E-54EA-2D32-1644-10ECA7D40947}"/>
              </a:ext>
            </a:extLst>
          </p:cNvPr>
          <p:cNvSpPr txBox="1"/>
          <p:nvPr/>
        </p:nvSpPr>
        <p:spPr>
          <a:xfrm>
            <a:off x="1327152" y="9378434"/>
            <a:ext cx="781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*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본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CV Score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는 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(−MAE)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로 기록되어 값이 ‘클수록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(0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에 가까울수록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)’ </a:t>
            </a:r>
            <a:r>
              <a:rPr lang="ko-KR" altLang="en-US" dirty="0">
                <a:latin typeface="NanumBarunGothic" panose="020B0600000101010101" charset="-127"/>
                <a:ea typeface="NanumBarunGothic" panose="020B0600000101010101" charset="-127"/>
              </a:rPr>
              <a:t>성능이 좋다</a:t>
            </a:r>
            <a:r>
              <a:rPr lang="en-US" altLang="ko-KR" dirty="0">
                <a:latin typeface="NanumBarunGothic" panose="020B0600000101010101" charset="-127"/>
                <a:ea typeface="NanumBarunGothic" panose="020B0600000101010101" charset="-127"/>
              </a:rPr>
              <a:t>.*</a:t>
            </a:r>
            <a:endParaRPr lang="ko-KR" altLang="en-US" dirty="0">
              <a:latin typeface="NanumBarunGothic" panose="020B0600000101010101" charset="-127"/>
              <a:ea typeface="NanumBarunGothic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868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8B1FD-EE9C-028B-7B21-95472BFE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667AD15-93D0-2434-692E-688DC052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" y="1765300"/>
            <a:ext cx="17284700" cy="254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4A30247-61B1-5F51-C117-EB000D63FC41}"/>
              </a:ext>
            </a:extLst>
          </p:cNvPr>
          <p:cNvSpPr txBox="1"/>
          <p:nvPr/>
        </p:nvSpPr>
        <p:spPr>
          <a:xfrm>
            <a:off x="939800" y="723900"/>
            <a:ext cx="11252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 </a:t>
            </a:r>
            <a:r>
              <a:rPr kumimoji="0" lang="ko-KR" altLang="en-US" sz="45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NanumBarunGothic"/>
                <a:cs typeface="+mn-cs"/>
              </a:rPr>
              <a:t>모델링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7757D76C-AC65-AFD7-000C-D20992B5BC13}"/>
              </a:ext>
            </a:extLst>
          </p:cNvPr>
          <p:cNvSpPr txBox="1"/>
          <p:nvPr/>
        </p:nvSpPr>
        <p:spPr>
          <a:xfrm>
            <a:off x="939800" y="1913363"/>
            <a:ext cx="161798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6.5 </a:t>
            </a:r>
            <a:r>
              <a:rPr kumimoji="0" lang="ko-KR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BarunGothic" panose="020B0600000101010101" charset="-127"/>
                <a:ea typeface="NanumBarunGothic" panose="020B0600000101010101" charset="-127"/>
                <a:cs typeface="+mn-cs"/>
              </a:rPr>
              <a:t>모델링 결과 종합 및 최종 모델 선정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B2CA6EE-E82B-F42A-32AF-EB5FFAF86C4A}"/>
              </a:ext>
            </a:extLst>
          </p:cNvPr>
          <p:cNvSpPr txBox="1"/>
          <p:nvPr/>
        </p:nvSpPr>
        <p:spPr>
          <a:xfrm>
            <a:off x="1327150" y="2950426"/>
            <a:ext cx="15792450" cy="356467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본 분석에서는 </a:t>
            </a:r>
            <a:r>
              <a:rPr lang="en-US" altLang="ko-KR" sz="2700" dirty="0" err="1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RandomForest</a:t>
            </a:r>
            <a:r>
              <a:rPr lang="en-US" altLang="ko-KR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모델을 활용하여 다음 세 가지 설정에 대해 단계적으로 모델링을 수행하였다</a:t>
            </a:r>
            <a:r>
              <a:rPr lang="en-US" altLang="ko-KR" sz="27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Grid Search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300" dirty="0">
                <a:latin typeface="NanumBarunGothic" panose="020B0600000101010101" charset="-127"/>
                <a:ea typeface="NanumBarunGothic" panose="020B0600000101010101" charset="-127"/>
              </a:rPr>
              <a:t>기반 </a:t>
            </a:r>
            <a:r>
              <a:rPr lang="en-US" altLang="ko-KR" sz="2300" dirty="0">
                <a:latin typeface="NanumBarunGothic" panose="020B0600000101010101" charset="-127"/>
                <a:ea typeface="NanumBarunGothic" panose="020B0600000101010101" charset="-127"/>
              </a:rPr>
              <a:t>Hyperparameter Tuning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3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7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별 결과 요약</a:t>
            </a:r>
            <a:endParaRPr lang="en-US" altLang="ko-KR" sz="2700" b="1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BarunGothic" panose="020B0600000101010101" charset="-127"/>
              <a:ea typeface="NanumBarunGothic" panose="020B0600000101010101" charset="-127"/>
              <a:cs typeface="+mn-cs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FA8D2F-585F-0B6F-CBCC-9101EB8DA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90811"/>
              </p:ext>
            </p:extLst>
          </p:nvPr>
        </p:nvGraphicFramePr>
        <p:xfrm>
          <a:off x="1327150" y="6362700"/>
          <a:ext cx="7054851" cy="3474720"/>
        </p:xfrm>
        <a:graphic>
          <a:graphicData uri="http://schemas.openxmlformats.org/drawingml/2006/table">
            <a:tbl>
              <a:tblPr/>
              <a:tblGrid>
                <a:gridCol w="2351617">
                  <a:extLst>
                    <a:ext uri="{9D8B030D-6E8A-4147-A177-3AD203B41FA5}">
                      <a16:colId xmlns:a16="http://schemas.microsoft.com/office/drawing/2014/main" val="3231271047"/>
                    </a:ext>
                  </a:extLst>
                </a:gridCol>
                <a:gridCol w="2351617">
                  <a:extLst>
                    <a:ext uri="{9D8B030D-6E8A-4147-A177-3AD203B41FA5}">
                      <a16:colId xmlns:a16="http://schemas.microsoft.com/office/drawing/2014/main" val="4172281188"/>
                    </a:ext>
                  </a:extLst>
                </a:gridCol>
                <a:gridCol w="2351617">
                  <a:extLst>
                    <a:ext uri="{9D8B030D-6E8A-4147-A177-3AD203B41FA5}">
                      <a16:colId xmlns:a16="http://schemas.microsoft.com/office/drawing/2014/main" val="1846835387"/>
                    </a:ext>
                  </a:extLst>
                </a:gridCol>
              </a:tblGrid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Top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All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544254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입력 변수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8</a:t>
                      </a: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224</a:t>
                      </a: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326362"/>
                  </a:ext>
                </a:extLst>
              </a:tr>
              <a:tr h="670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모델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핵심 변수 기반 효율적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최대 성능 수준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215481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최적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randomforest_17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42188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CV Score (MAE)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약 </a:t>
                      </a:r>
                      <a:r>
                        <a:rPr lang="en-US" altLang="ko-KR" sz="2000" b="1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-169,957</a:t>
                      </a:r>
                      <a:endParaRPr lang="ko-KR" altLang="en-US" sz="2000" dirty="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약 </a:t>
                      </a:r>
                      <a:r>
                        <a:rPr lang="en-US" altLang="ko-KR" sz="2000" b="1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-158,461</a:t>
                      </a:r>
                      <a:endParaRPr lang="ko-KR" altLang="en-US" sz="2000">
                        <a:latin typeface="NanumBarunGothic" panose="020B0600000101010101" charset="-127"/>
                        <a:ea typeface="NanumBarunGothic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04870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성능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준수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가장 우수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20503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연산 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매우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82043"/>
                  </a:ext>
                </a:extLst>
              </a:tr>
              <a:tr h="37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해석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dirty="0">
                          <a:latin typeface="NanumBarunGothic" panose="020B0600000101010101" charset="-127"/>
                          <a:ea typeface="NanumBarunGothic" panose="020B0600000101010101" charset="-127"/>
                        </a:rPr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361362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5BAE8384-BFF6-3F1B-F577-A77DCBAB6427}"/>
              </a:ext>
            </a:extLst>
          </p:cNvPr>
          <p:cNvSpPr txBox="1"/>
          <p:nvPr/>
        </p:nvSpPr>
        <p:spPr>
          <a:xfrm>
            <a:off x="9223375" y="4732763"/>
            <a:ext cx="7816849" cy="510465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All Columns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모델은 변수 선택을 적용하지 않은 기준 모델로서 데이터가 제공할 수 있는 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최대 예측 성능</a:t>
            </a:r>
            <a:r>
              <a:rPr lang="en-US" altLang="ko-KR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</a:t>
            </a:r>
            <a:r>
              <a:rPr lang="ko-KR" altLang="en-US" sz="2000" b="1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을 확인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하는 데 목적이 있다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해당 모델은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모델 대비 소폭 더 우수한 성능을 보였으나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,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변수 수 증가에 따른 연산 비용과 모델 복잡성이 크게 증가하였다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 algn="ctr">
              <a:lnSpc>
                <a:spcPct val="200000"/>
              </a:lnSpc>
              <a:defRPr/>
            </a:pP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이에 본 분석에서는 전체 컬럼 모델을 성능 상한선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(upper bound)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확인용 기준 모델로 활용하고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실무 적용 가능성과 효율성을 고려하여 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Top Features </a:t>
            </a:r>
            <a:r>
              <a:rPr lang="ko-KR" altLang="en-US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기반 모델을 주요 분석 결과로 채택하였다</a:t>
            </a:r>
            <a:r>
              <a:rPr lang="en-US" altLang="ko-KR" sz="2000" dirty="0">
                <a:solidFill>
                  <a:prstClr val="black"/>
                </a:solidFill>
                <a:latin typeface="NanumBarunGothic" panose="020B0600000101010101" charset="-127"/>
                <a:ea typeface="NanumBarunGothic" panose="020B0600000101010101" charset="-127"/>
              </a:rPr>
              <a:t>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  <a:p>
            <a:pPr lvl="0">
              <a:lnSpc>
                <a:spcPct val="200000"/>
              </a:lnSpc>
              <a:defRPr/>
            </a:pPr>
            <a:endParaRPr lang="en-US" altLang="ko-KR" sz="2000" dirty="0">
              <a:solidFill>
                <a:prstClr val="black"/>
              </a:solidFill>
              <a:latin typeface="NanumBarunGothic" panose="020B0600000101010101" charset="-127"/>
              <a:ea typeface="NanumBarunGothic" panose="020B0600000101010101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EFA144-3AF0-E6C7-5E8D-F9B55419071E}"/>
              </a:ext>
            </a:extLst>
          </p:cNvPr>
          <p:cNvSpPr/>
          <p:nvPr/>
        </p:nvSpPr>
        <p:spPr>
          <a:xfrm>
            <a:off x="8991600" y="7734300"/>
            <a:ext cx="8382000" cy="195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3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4096</Words>
  <Application>Microsoft Office PowerPoint</Application>
  <PresentationFormat>사용자 지정</PresentationFormat>
  <Paragraphs>559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NanumBarunGothic</vt:lpstr>
      <vt:lpstr>Calibri</vt:lpstr>
      <vt:lpstr>Cambria Math</vt:lpstr>
      <vt:lpstr>Arial</vt:lpstr>
      <vt:lpstr>NanumBarunGothic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Jongyun</dc:creator>
  <cp:lastModifiedBy>김종윤</cp:lastModifiedBy>
  <cp:revision>49</cp:revision>
  <dcterms:created xsi:type="dcterms:W3CDTF">2006-08-16T00:00:00Z</dcterms:created>
  <dcterms:modified xsi:type="dcterms:W3CDTF">2026-01-02T03:57:03Z</dcterms:modified>
</cp:coreProperties>
</file>